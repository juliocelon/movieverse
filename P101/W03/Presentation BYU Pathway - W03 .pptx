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62" r:id="rId3"/>
    <p:sldId id="258" r:id="rId4"/>
    <p:sldId id="264" r:id="rId5"/>
    <p:sldId id="263" r:id="rId6"/>
    <p:sldId id="260" r:id="rId7"/>
    <p:sldId id="261" r:id="rId8"/>
    <p:sldId id="266" r:id="rId9"/>
    <p:sldId id="265" r:id="rId10"/>
    <p:sldId id="267" r:id="rId11"/>
    <p:sldId id="268" r:id="rId12"/>
    <p:sldId id="269" r:id="rId13"/>
    <p:sldId id="271" r:id="rId14"/>
    <p:sldId id="272" r:id="rId15"/>
    <p:sldId id="278" r:id="rId16"/>
    <p:sldId id="273" r:id="rId17"/>
    <p:sldId id="274" r:id="rId18"/>
    <p:sldId id="276" r:id="rId19"/>
    <p:sldId id="275" r:id="rId20"/>
    <p:sldId id="277" r:id="rId21"/>
  </p:sldIdLst>
  <p:sldSz cx="12192000" cy="6858000"/>
  <p:notesSz cx="6858000" cy="9144000"/>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20"/>
    <p:restoredTop sz="94719"/>
  </p:normalViewPr>
  <p:slideViewPr>
    <p:cSldViewPr snapToGrid="0">
      <p:cViewPr varScale="1">
        <p:scale>
          <a:sx n="152" d="100"/>
          <a:sy n="152" d="100"/>
        </p:scale>
        <p:origin x="1272" y="1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D63CF0-DB43-6046-958B-FF722891068C}" type="datetimeFigureOut">
              <a:rPr lang="en-MX" smtClean="0"/>
              <a:t>09/05/24</a:t>
            </a:fld>
            <a:endParaRPr lang="en-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F8454B-48A7-1349-97B4-CFD8CAC6B3A8}" type="slidenum">
              <a:rPr lang="en-MX" smtClean="0"/>
              <a:t>‹#›</a:t>
            </a:fld>
            <a:endParaRPr lang="en-MX"/>
          </a:p>
        </p:txBody>
      </p:sp>
    </p:spTree>
    <p:extLst>
      <p:ext uri="{BB962C8B-B14F-4D97-AF65-F5344CB8AC3E}">
        <p14:creationId xmlns:p14="http://schemas.microsoft.com/office/powerpoint/2010/main" val="3433271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BFF8454B-48A7-1349-97B4-CFD8CAC6B3A8}" type="slidenum">
              <a:rPr lang="en-MX" smtClean="0"/>
              <a:t>1</a:t>
            </a:fld>
            <a:endParaRPr lang="en-MX"/>
          </a:p>
        </p:txBody>
      </p:sp>
    </p:spTree>
    <p:extLst>
      <p:ext uri="{BB962C8B-B14F-4D97-AF65-F5344CB8AC3E}">
        <p14:creationId xmlns:p14="http://schemas.microsoft.com/office/powerpoint/2010/main" val="3575898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BFF8454B-48A7-1349-97B4-CFD8CAC6B3A8}" type="slidenum">
              <a:rPr lang="en-MX" smtClean="0"/>
              <a:t>7</a:t>
            </a:fld>
            <a:endParaRPr lang="en-MX"/>
          </a:p>
        </p:txBody>
      </p:sp>
    </p:spTree>
    <p:extLst>
      <p:ext uri="{BB962C8B-B14F-4D97-AF65-F5344CB8AC3E}">
        <p14:creationId xmlns:p14="http://schemas.microsoft.com/office/powerpoint/2010/main" val="561925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BFF8454B-48A7-1349-97B4-CFD8CAC6B3A8}" type="slidenum">
              <a:rPr lang="en-MX" smtClean="0"/>
              <a:t>8</a:t>
            </a:fld>
            <a:endParaRPr lang="en-MX"/>
          </a:p>
        </p:txBody>
      </p:sp>
    </p:spTree>
    <p:extLst>
      <p:ext uri="{BB962C8B-B14F-4D97-AF65-F5344CB8AC3E}">
        <p14:creationId xmlns:p14="http://schemas.microsoft.com/office/powerpoint/2010/main" val="2468798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BFF8454B-48A7-1349-97B4-CFD8CAC6B3A8}" type="slidenum">
              <a:rPr lang="en-MX" smtClean="0"/>
              <a:t>9</a:t>
            </a:fld>
            <a:endParaRPr lang="en-MX"/>
          </a:p>
        </p:txBody>
      </p:sp>
    </p:spTree>
    <p:extLst>
      <p:ext uri="{BB962C8B-B14F-4D97-AF65-F5344CB8AC3E}">
        <p14:creationId xmlns:p14="http://schemas.microsoft.com/office/powerpoint/2010/main" val="29659294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BFF8454B-48A7-1349-97B4-CFD8CAC6B3A8}" type="slidenum">
              <a:rPr lang="en-MX" smtClean="0"/>
              <a:t>10</a:t>
            </a:fld>
            <a:endParaRPr lang="en-MX"/>
          </a:p>
        </p:txBody>
      </p:sp>
    </p:spTree>
    <p:extLst>
      <p:ext uri="{BB962C8B-B14F-4D97-AF65-F5344CB8AC3E}">
        <p14:creationId xmlns:p14="http://schemas.microsoft.com/office/powerpoint/2010/main" val="29381721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BFF8454B-48A7-1349-97B4-CFD8CAC6B3A8}" type="slidenum">
              <a:rPr lang="en-MX" smtClean="0"/>
              <a:t>11</a:t>
            </a:fld>
            <a:endParaRPr lang="en-MX"/>
          </a:p>
        </p:txBody>
      </p:sp>
    </p:spTree>
    <p:extLst>
      <p:ext uri="{BB962C8B-B14F-4D97-AF65-F5344CB8AC3E}">
        <p14:creationId xmlns:p14="http://schemas.microsoft.com/office/powerpoint/2010/main" val="38019392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BFF8454B-48A7-1349-97B4-CFD8CAC6B3A8}" type="slidenum">
              <a:rPr lang="en-MX" smtClean="0"/>
              <a:t>12</a:t>
            </a:fld>
            <a:endParaRPr lang="en-MX"/>
          </a:p>
        </p:txBody>
      </p:sp>
    </p:spTree>
    <p:extLst>
      <p:ext uri="{BB962C8B-B14F-4D97-AF65-F5344CB8AC3E}">
        <p14:creationId xmlns:p14="http://schemas.microsoft.com/office/powerpoint/2010/main" val="3953123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BFF8454B-48A7-1349-97B4-CFD8CAC6B3A8}" type="slidenum">
              <a:rPr lang="en-MX" smtClean="0"/>
              <a:t>13</a:t>
            </a:fld>
            <a:endParaRPr lang="en-MX"/>
          </a:p>
        </p:txBody>
      </p:sp>
    </p:spTree>
    <p:extLst>
      <p:ext uri="{BB962C8B-B14F-4D97-AF65-F5344CB8AC3E}">
        <p14:creationId xmlns:p14="http://schemas.microsoft.com/office/powerpoint/2010/main" val="18293872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BFF8454B-48A7-1349-97B4-CFD8CAC6B3A8}" type="slidenum">
              <a:rPr lang="en-MX" smtClean="0"/>
              <a:t>14</a:t>
            </a:fld>
            <a:endParaRPr lang="en-MX"/>
          </a:p>
        </p:txBody>
      </p:sp>
    </p:spTree>
    <p:extLst>
      <p:ext uri="{BB962C8B-B14F-4D97-AF65-F5344CB8AC3E}">
        <p14:creationId xmlns:p14="http://schemas.microsoft.com/office/powerpoint/2010/main" val="1078352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BFF8454B-48A7-1349-97B4-CFD8CAC6B3A8}" type="slidenum">
              <a:rPr lang="en-MX" smtClean="0"/>
              <a:t>15</a:t>
            </a:fld>
            <a:endParaRPr lang="en-MX"/>
          </a:p>
        </p:txBody>
      </p:sp>
    </p:spTree>
    <p:extLst>
      <p:ext uri="{BB962C8B-B14F-4D97-AF65-F5344CB8AC3E}">
        <p14:creationId xmlns:p14="http://schemas.microsoft.com/office/powerpoint/2010/main" val="38995956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BFF8454B-48A7-1349-97B4-CFD8CAC6B3A8}" type="slidenum">
              <a:rPr lang="en-MX" smtClean="0"/>
              <a:t>16</a:t>
            </a:fld>
            <a:endParaRPr lang="en-MX"/>
          </a:p>
        </p:txBody>
      </p:sp>
    </p:spTree>
    <p:extLst>
      <p:ext uri="{BB962C8B-B14F-4D97-AF65-F5344CB8AC3E}">
        <p14:creationId xmlns:p14="http://schemas.microsoft.com/office/powerpoint/2010/main" val="1876056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BFF8454B-48A7-1349-97B4-CFD8CAC6B3A8}" type="slidenum">
              <a:rPr lang="en-MX" smtClean="0"/>
              <a:t>17</a:t>
            </a:fld>
            <a:endParaRPr lang="en-MX"/>
          </a:p>
        </p:txBody>
      </p:sp>
    </p:spTree>
    <p:extLst>
      <p:ext uri="{BB962C8B-B14F-4D97-AF65-F5344CB8AC3E}">
        <p14:creationId xmlns:p14="http://schemas.microsoft.com/office/powerpoint/2010/main" val="27329200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X" dirty="0"/>
          </a:p>
        </p:txBody>
      </p:sp>
      <p:sp>
        <p:nvSpPr>
          <p:cNvPr id="4" name="Slide Number Placeholder 3"/>
          <p:cNvSpPr>
            <a:spLocks noGrp="1"/>
          </p:cNvSpPr>
          <p:nvPr>
            <p:ph type="sldNum" sz="quarter" idx="5"/>
          </p:nvPr>
        </p:nvSpPr>
        <p:spPr/>
        <p:txBody>
          <a:bodyPr/>
          <a:lstStyle/>
          <a:p>
            <a:fld id="{BFF8454B-48A7-1349-97B4-CFD8CAC6B3A8}" type="slidenum">
              <a:rPr lang="en-MX" smtClean="0"/>
              <a:t>18</a:t>
            </a:fld>
            <a:endParaRPr lang="en-MX"/>
          </a:p>
        </p:txBody>
      </p:sp>
    </p:spTree>
    <p:extLst>
      <p:ext uri="{BB962C8B-B14F-4D97-AF65-F5344CB8AC3E}">
        <p14:creationId xmlns:p14="http://schemas.microsoft.com/office/powerpoint/2010/main" val="3480688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B261-C261-B698-C2FC-927629E0AA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X"/>
          </a:p>
        </p:txBody>
      </p:sp>
      <p:sp>
        <p:nvSpPr>
          <p:cNvPr id="3" name="Subtitle 2">
            <a:extLst>
              <a:ext uri="{FF2B5EF4-FFF2-40B4-BE49-F238E27FC236}">
                <a16:creationId xmlns:a16="http://schemas.microsoft.com/office/drawing/2014/main" id="{A481D354-A9A3-CD8D-1F7F-AEC1729325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X"/>
          </a:p>
        </p:txBody>
      </p:sp>
      <p:sp>
        <p:nvSpPr>
          <p:cNvPr id="4" name="Date Placeholder 3">
            <a:extLst>
              <a:ext uri="{FF2B5EF4-FFF2-40B4-BE49-F238E27FC236}">
                <a16:creationId xmlns:a16="http://schemas.microsoft.com/office/drawing/2014/main" id="{79CB9A49-51D5-7231-1AC5-FA039066FA4D}"/>
              </a:ext>
            </a:extLst>
          </p:cNvPr>
          <p:cNvSpPr>
            <a:spLocks noGrp="1"/>
          </p:cNvSpPr>
          <p:nvPr>
            <p:ph type="dt" sz="half" idx="10"/>
          </p:nvPr>
        </p:nvSpPr>
        <p:spPr/>
        <p:txBody>
          <a:bodyPr/>
          <a:lstStyle/>
          <a:p>
            <a:fld id="{B184E338-A699-6243-97AE-0FA309E8D06A}" type="datetimeFigureOut">
              <a:rPr lang="en-MX" smtClean="0"/>
              <a:t>09/05/24</a:t>
            </a:fld>
            <a:endParaRPr lang="en-MX"/>
          </a:p>
        </p:txBody>
      </p:sp>
      <p:sp>
        <p:nvSpPr>
          <p:cNvPr id="5" name="Footer Placeholder 4">
            <a:extLst>
              <a:ext uri="{FF2B5EF4-FFF2-40B4-BE49-F238E27FC236}">
                <a16:creationId xmlns:a16="http://schemas.microsoft.com/office/drawing/2014/main" id="{C2E83398-A112-886A-8CB5-E7288460793F}"/>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D3AB8DF1-19CE-8CBB-3E9F-29076073ED12}"/>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1923081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AA1E9-D642-6FE2-E6B6-5C41CF171D38}"/>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DF9EB383-A3B5-D69D-3BF6-83D2E28761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E1164684-DEEA-97D7-C367-AC3840C75FD7}"/>
              </a:ext>
            </a:extLst>
          </p:cNvPr>
          <p:cNvSpPr>
            <a:spLocks noGrp="1"/>
          </p:cNvSpPr>
          <p:nvPr>
            <p:ph type="dt" sz="half" idx="10"/>
          </p:nvPr>
        </p:nvSpPr>
        <p:spPr/>
        <p:txBody>
          <a:bodyPr/>
          <a:lstStyle/>
          <a:p>
            <a:fld id="{B184E338-A699-6243-97AE-0FA309E8D06A}" type="datetimeFigureOut">
              <a:rPr lang="en-MX" smtClean="0"/>
              <a:t>09/05/24</a:t>
            </a:fld>
            <a:endParaRPr lang="en-MX"/>
          </a:p>
        </p:txBody>
      </p:sp>
      <p:sp>
        <p:nvSpPr>
          <p:cNvPr id="5" name="Footer Placeholder 4">
            <a:extLst>
              <a:ext uri="{FF2B5EF4-FFF2-40B4-BE49-F238E27FC236}">
                <a16:creationId xmlns:a16="http://schemas.microsoft.com/office/drawing/2014/main" id="{4E59780B-2B77-3FBB-5F9A-08FC02506CC9}"/>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86F1CE7F-4178-22B4-A546-9EBEC31A4499}"/>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276816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F02A2-275B-9F5A-9F64-5CA57BF3A1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X"/>
          </a:p>
        </p:txBody>
      </p:sp>
      <p:sp>
        <p:nvSpPr>
          <p:cNvPr id="3" name="Text Placeholder 2">
            <a:extLst>
              <a:ext uri="{FF2B5EF4-FFF2-40B4-BE49-F238E27FC236}">
                <a16:creationId xmlns:a16="http://schemas.microsoft.com/office/drawing/2014/main" id="{CF670311-5B4E-7118-FC75-23E67E14F3F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52E582-B108-96FB-62B2-4570A7A507AD}"/>
              </a:ext>
            </a:extLst>
          </p:cNvPr>
          <p:cNvSpPr>
            <a:spLocks noGrp="1"/>
          </p:cNvSpPr>
          <p:nvPr>
            <p:ph type="dt" sz="half" idx="10"/>
          </p:nvPr>
        </p:nvSpPr>
        <p:spPr/>
        <p:txBody>
          <a:bodyPr/>
          <a:lstStyle/>
          <a:p>
            <a:fld id="{B184E338-A699-6243-97AE-0FA309E8D06A}" type="datetimeFigureOut">
              <a:rPr lang="en-MX" smtClean="0"/>
              <a:t>09/05/24</a:t>
            </a:fld>
            <a:endParaRPr lang="en-MX"/>
          </a:p>
        </p:txBody>
      </p:sp>
      <p:sp>
        <p:nvSpPr>
          <p:cNvPr id="5" name="Footer Placeholder 4">
            <a:extLst>
              <a:ext uri="{FF2B5EF4-FFF2-40B4-BE49-F238E27FC236}">
                <a16:creationId xmlns:a16="http://schemas.microsoft.com/office/drawing/2014/main" id="{D859C463-A20A-CBE4-90D8-D71DB9B4124E}"/>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3EA02A01-CF1F-7751-2CDB-0E714CE044E9}"/>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1128465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9E601-A0F5-3CA0-98F7-55634A516CCC}"/>
              </a:ext>
            </a:extLst>
          </p:cNvPr>
          <p:cNvSpPr>
            <a:spLocks noGrp="1"/>
          </p:cNvSpPr>
          <p:nvPr>
            <p:ph type="title"/>
          </p:nvPr>
        </p:nvSpPr>
        <p:spPr/>
        <p:txBody>
          <a:bodyPr/>
          <a:lstStyle/>
          <a:p>
            <a:r>
              <a:rPr lang="en-US"/>
              <a:t>Click to edit Master title style</a:t>
            </a:r>
            <a:endParaRPr lang="en-MX"/>
          </a:p>
        </p:txBody>
      </p:sp>
      <p:sp>
        <p:nvSpPr>
          <p:cNvPr id="3" name="Content Placeholder 2">
            <a:extLst>
              <a:ext uri="{FF2B5EF4-FFF2-40B4-BE49-F238E27FC236}">
                <a16:creationId xmlns:a16="http://schemas.microsoft.com/office/drawing/2014/main" id="{15A35DDF-E513-5E75-527E-5C1EA03AFC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Content Placeholder 3">
            <a:extLst>
              <a:ext uri="{FF2B5EF4-FFF2-40B4-BE49-F238E27FC236}">
                <a16:creationId xmlns:a16="http://schemas.microsoft.com/office/drawing/2014/main" id="{9CE0498E-369B-2C5E-E059-463C1E0EEB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Date Placeholder 4">
            <a:extLst>
              <a:ext uri="{FF2B5EF4-FFF2-40B4-BE49-F238E27FC236}">
                <a16:creationId xmlns:a16="http://schemas.microsoft.com/office/drawing/2014/main" id="{65450642-D723-A080-F1B1-8C24E49557C1}"/>
              </a:ext>
            </a:extLst>
          </p:cNvPr>
          <p:cNvSpPr>
            <a:spLocks noGrp="1"/>
          </p:cNvSpPr>
          <p:nvPr>
            <p:ph type="dt" sz="half" idx="10"/>
          </p:nvPr>
        </p:nvSpPr>
        <p:spPr/>
        <p:txBody>
          <a:bodyPr/>
          <a:lstStyle/>
          <a:p>
            <a:fld id="{B184E338-A699-6243-97AE-0FA309E8D06A}" type="datetimeFigureOut">
              <a:rPr lang="en-MX" smtClean="0"/>
              <a:t>09/05/24</a:t>
            </a:fld>
            <a:endParaRPr lang="en-MX"/>
          </a:p>
        </p:txBody>
      </p:sp>
      <p:sp>
        <p:nvSpPr>
          <p:cNvPr id="6" name="Footer Placeholder 5">
            <a:extLst>
              <a:ext uri="{FF2B5EF4-FFF2-40B4-BE49-F238E27FC236}">
                <a16:creationId xmlns:a16="http://schemas.microsoft.com/office/drawing/2014/main" id="{5558730B-0AD9-B7DF-F884-620638059D1F}"/>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D6204755-61E8-AF1A-FA8D-344DBE239B91}"/>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98362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F7FA9-4F31-180C-5861-505A404B6733}"/>
              </a:ext>
            </a:extLst>
          </p:cNvPr>
          <p:cNvSpPr>
            <a:spLocks noGrp="1"/>
          </p:cNvSpPr>
          <p:nvPr>
            <p:ph type="title"/>
          </p:nvPr>
        </p:nvSpPr>
        <p:spPr>
          <a:xfrm>
            <a:off x="839788" y="365125"/>
            <a:ext cx="10515600" cy="1325563"/>
          </a:xfrm>
        </p:spPr>
        <p:txBody>
          <a:bodyPr/>
          <a:lstStyle/>
          <a:p>
            <a:r>
              <a:rPr lang="en-US"/>
              <a:t>Click to edit Master title style</a:t>
            </a:r>
            <a:endParaRPr lang="en-MX"/>
          </a:p>
        </p:txBody>
      </p:sp>
      <p:sp>
        <p:nvSpPr>
          <p:cNvPr id="3" name="Text Placeholder 2">
            <a:extLst>
              <a:ext uri="{FF2B5EF4-FFF2-40B4-BE49-F238E27FC236}">
                <a16:creationId xmlns:a16="http://schemas.microsoft.com/office/drawing/2014/main" id="{54241B57-1ECF-4ECE-12B8-E2138D8A34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827FD4-DE5E-EE72-2763-B66F971C8D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5" name="Text Placeholder 4">
            <a:extLst>
              <a:ext uri="{FF2B5EF4-FFF2-40B4-BE49-F238E27FC236}">
                <a16:creationId xmlns:a16="http://schemas.microsoft.com/office/drawing/2014/main" id="{8B655E8F-C3AB-551B-C693-ABA5C8E510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422A0A-17B6-A2DE-EDE0-0AF0F3EE73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7" name="Date Placeholder 6">
            <a:extLst>
              <a:ext uri="{FF2B5EF4-FFF2-40B4-BE49-F238E27FC236}">
                <a16:creationId xmlns:a16="http://schemas.microsoft.com/office/drawing/2014/main" id="{1F1C4154-82D7-5480-4FF6-2FB7BA0823B3}"/>
              </a:ext>
            </a:extLst>
          </p:cNvPr>
          <p:cNvSpPr>
            <a:spLocks noGrp="1"/>
          </p:cNvSpPr>
          <p:nvPr>
            <p:ph type="dt" sz="half" idx="10"/>
          </p:nvPr>
        </p:nvSpPr>
        <p:spPr/>
        <p:txBody>
          <a:bodyPr/>
          <a:lstStyle/>
          <a:p>
            <a:fld id="{B184E338-A699-6243-97AE-0FA309E8D06A}" type="datetimeFigureOut">
              <a:rPr lang="en-MX" smtClean="0"/>
              <a:t>09/05/24</a:t>
            </a:fld>
            <a:endParaRPr lang="en-MX"/>
          </a:p>
        </p:txBody>
      </p:sp>
      <p:sp>
        <p:nvSpPr>
          <p:cNvPr id="8" name="Footer Placeholder 7">
            <a:extLst>
              <a:ext uri="{FF2B5EF4-FFF2-40B4-BE49-F238E27FC236}">
                <a16:creationId xmlns:a16="http://schemas.microsoft.com/office/drawing/2014/main" id="{7C2F6F03-484E-3947-859C-246FE3E20B46}"/>
              </a:ext>
            </a:extLst>
          </p:cNvPr>
          <p:cNvSpPr>
            <a:spLocks noGrp="1"/>
          </p:cNvSpPr>
          <p:nvPr>
            <p:ph type="ftr" sz="quarter" idx="11"/>
          </p:nvPr>
        </p:nvSpPr>
        <p:spPr/>
        <p:txBody>
          <a:bodyPr/>
          <a:lstStyle/>
          <a:p>
            <a:endParaRPr lang="en-MX"/>
          </a:p>
        </p:txBody>
      </p:sp>
      <p:sp>
        <p:nvSpPr>
          <p:cNvPr id="9" name="Slide Number Placeholder 8">
            <a:extLst>
              <a:ext uri="{FF2B5EF4-FFF2-40B4-BE49-F238E27FC236}">
                <a16:creationId xmlns:a16="http://schemas.microsoft.com/office/drawing/2014/main" id="{69EEAA0A-70F8-4D06-36B4-EF3C4B2C6EC4}"/>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3095597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A8F4-D027-E25F-FA77-EFF9209C5951}"/>
              </a:ext>
            </a:extLst>
          </p:cNvPr>
          <p:cNvSpPr>
            <a:spLocks noGrp="1"/>
          </p:cNvSpPr>
          <p:nvPr>
            <p:ph type="title"/>
          </p:nvPr>
        </p:nvSpPr>
        <p:spPr/>
        <p:txBody>
          <a:bodyPr/>
          <a:lstStyle/>
          <a:p>
            <a:r>
              <a:rPr lang="en-US"/>
              <a:t>Click to edit Master title style</a:t>
            </a:r>
            <a:endParaRPr lang="en-MX"/>
          </a:p>
        </p:txBody>
      </p:sp>
      <p:sp>
        <p:nvSpPr>
          <p:cNvPr id="3" name="Date Placeholder 2">
            <a:extLst>
              <a:ext uri="{FF2B5EF4-FFF2-40B4-BE49-F238E27FC236}">
                <a16:creationId xmlns:a16="http://schemas.microsoft.com/office/drawing/2014/main" id="{5F33EEB2-8F3E-517D-3D46-B3F248E9F236}"/>
              </a:ext>
            </a:extLst>
          </p:cNvPr>
          <p:cNvSpPr>
            <a:spLocks noGrp="1"/>
          </p:cNvSpPr>
          <p:nvPr>
            <p:ph type="dt" sz="half" idx="10"/>
          </p:nvPr>
        </p:nvSpPr>
        <p:spPr/>
        <p:txBody>
          <a:bodyPr/>
          <a:lstStyle/>
          <a:p>
            <a:fld id="{B184E338-A699-6243-97AE-0FA309E8D06A}" type="datetimeFigureOut">
              <a:rPr lang="en-MX" smtClean="0"/>
              <a:t>09/05/24</a:t>
            </a:fld>
            <a:endParaRPr lang="en-MX"/>
          </a:p>
        </p:txBody>
      </p:sp>
      <p:sp>
        <p:nvSpPr>
          <p:cNvPr id="4" name="Footer Placeholder 3">
            <a:extLst>
              <a:ext uri="{FF2B5EF4-FFF2-40B4-BE49-F238E27FC236}">
                <a16:creationId xmlns:a16="http://schemas.microsoft.com/office/drawing/2014/main" id="{67B85561-FEF2-01B3-85C6-1E56BF7C9111}"/>
              </a:ext>
            </a:extLst>
          </p:cNvPr>
          <p:cNvSpPr>
            <a:spLocks noGrp="1"/>
          </p:cNvSpPr>
          <p:nvPr>
            <p:ph type="ftr" sz="quarter" idx="11"/>
          </p:nvPr>
        </p:nvSpPr>
        <p:spPr/>
        <p:txBody>
          <a:bodyPr/>
          <a:lstStyle/>
          <a:p>
            <a:endParaRPr lang="en-MX"/>
          </a:p>
        </p:txBody>
      </p:sp>
      <p:sp>
        <p:nvSpPr>
          <p:cNvPr id="5" name="Slide Number Placeholder 4">
            <a:extLst>
              <a:ext uri="{FF2B5EF4-FFF2-40B4-BE49-F238E27FC236}">
                <a16:creationId xmlns:a16="http://schemas.microsoft.com/office/drawing/2014/main" id="{94B49DE4-DDAC-7731-4B7F-E3ADDD77FC23}"/>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953711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EA4E0B-8EB6-6980-FE14-F92B77696CE9}"/>
              </a:ext>
            </a:extLst>
          </p:cNvPr>
          <p:cNvSpPr>
            <a:spLocks noGrp="1"/>
          </p:cNvSpPr>
          <p:nvPr>
            <p:ph type="dt" sz="half" idx="10"/>
          </p:nvPr>
        </p:nvSpPr>
        <p:spPr/>
        <p:txBody>
          <a:bodyPr/>
          <a:lstStyle/>
          <a:p>
            <a:fld id="{B184E338-A699-6243-97AE-0FA309E8D06A}" type="datetimeFigureOut">
              <a:rPr lang="en-MX" smtClean="0"/>
              <a:t>09/05/24</a:t>
            </a:fld>
            <a:endParaRPr lang="en-MX"/>
          </a:p>
        </p:txBody>
      </p:sp>
      <p:sp>
        <p:nvSpPr>
          <p:cNvPr id="3" name="Footer Placeholder 2">
            <a:extLst>
              <a:ext uri="{FF2B5EF4-FFF2-40B4-BE49-F238E27FC236}">
                <a16:creationId xmlns:a16="http://schemas.microsoft.com/office/drawing/2014/main" id="{16AE3A4F-04F6-D41F-5FCA-1334512B415F}"/>
              </a:ext>
            </a:extLst>
          </p:cNvPr>
          <p:cNvSpPr>
            <a:spLocks noGrp="1"/>
          </p:cNvSpPr>
          <p:nvPr>
            <p:ph type="ftr" sz="quarter" idx="11"/>
          </p:nvPr>
        </p:nvSpPr>
        <p:spPr/>
        <p:txBody>
          <a:bodyPr/>
          <a:lstStyle/>
          <a:p>
            <a:endParaRPr lang="en-MX"/>
          </a:p>
        </p:txBody>
      </p:sp>
      <p:sp>
        <p:nvSpPr>
          <p:cNvPr id="4" name="Slide Number Placeholder 3">
            <a:extLst>
              <a:ext uri="{FF2B5EF4-FFF2-40B4-BE49-F238E27FC236}">
                <a16:creationId xmlns:a16="http://schemas.microsoft.com/office/drawing/2014/main" id="{F3238CEE-8AC1-0DEA-F4E1-934EEC18F0FE}"/>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1731770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7F6D0-1A12-BFD0-4BE6-5528B95DAF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Content Placeholder 2">
            <a:extLst>
              <a:ext uri="{FF2B5EF4-FFF2-40B4-BE49-F238E27FC236}">
                <a16:creationId xmlns:a16="http://schemas.microsoft.com/office/drawing/2014/main" id="{D7C8F769-36D0-8696-3D23-A31FB4A78C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Text Placeholder 3">
            <a:extLst>
              <a:ext uri="{FF2B5EF4-FFF2-40B4-BE49-F238E27FC236}">
                <a16:creationId xmlns:a16="http://schemas.microsoft.com/office/drawing/2014/main" id="{C8DFA26D-92B4-B94E-E7CE-AAAF34A147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95AA00-1017-A3C2-7953-2CF39EA5FCA0}"/>
              </a:ext>
            </a:extLst>
          </p:cNvPr>
          <p:cNvSpPr>
            <a:spLocks noGrp="1"/>
          </p:cNvSpPr>
          <p:nvPr>
            <p:ph type="dt" sz="half" idx="10"/>
          </p:nvPr>
        </p:nvSpPr>
        <p:spPr/>
        <p:txBody>
          <a:bodyPr/>
          <a:lstStyle/>
          <a:p>
            <a:fld id="{B184E338-A699-6243-97AE-0FA309E8D06A}" type="datetimeFigureOut">
              <a:rPr lang="en-MX" smtClean="0"/>
              <a:t>09/05/24</a:t>
            </a:fld>
            <a:endParaRPr lang="en-MX"/>
          </a:p>
        </p:txBody>
      </p:sp>
      <p:sp>
        <p:nvSpPr>
          <p:cNvPr id="6" name="Footer Placeholder 5">
            <a:extLst>
              <a:ext uri="{FF2B5EF4-FFF2-40B4-BE49-F238E27FC236}">
                <a16:creationId xmlns:a16="http://schemas.microsoft.com/office/drawing/2014/main" id="{D1730A04-1BB5-00C6-D015-DE7B173E209D}"/>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79EC4812-2352-7133-0022-978DCF92FD4E}"/>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1073652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CBF88-73CB-AC92-B83F-90F128B0CD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X"/>
          </a:p>
        </p:txBody>
      </p:sp>
      <p:sp>
        <p:nvSpPr>
          <p:cNvPr id="3" name="Picture Placeholder 2">
            <a:extLst>
              <a:ext uri="{FF2B5EF4-FFF2-40B4-BE49-F238E27FC236}">
                <a16:creationId xmlns:a16="http://schemas.microsoft.com/office/drawing/2014/main" id="{7EC9243B-FF3A-9727-9643-0E79879353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X"/>
          </a:p>
        </p:txBody>
      </p:sp>
      <p:sp>
        <p:nvSpPr>
          <p:cNvPr id="4" name="Text Placeholder 3">
            <a:extLst>
              <a:ext uri="{FF2B5EF4-FFF2-40B4-BE49-F238E27FC236}">
                <a16:creationId xmlns:a16="http://schemas.microsoft.com/office/drawing/2014/main" id="{5C4AE678-38D7-1005-FDCE-832D6BC32C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E16B11-FCE8-C30F-F64E-4A7F961A9E46}"/>
              </a:ext>
            </a:extLst>
          </p:cNvPr>
          <p:cNvSpPr>
            <a:spLocks noGrp="1"/>
          </p:cNvSpPr>
          <p:nvPr>
            <p:ph type="dt" sz="half" idx="10"/>
          </p:nvPr>
        </p:nvSpPr>
        <p:spPr/>
        <p:txBody>
          <a:bodyPr/>
          <a:lstStyle/>
          <a:p>
            <a:fld id="{B184E338-A699-6243-97AE-0FA309E8D06A}" type="datetimeFigureOut">
              <a:rPr lang="en-MX" smtClean="0"/>
              <a:t>09/05/24</a:t>
            </a:fld>
            <a:endParaRPr lang="en-MX"/>
          </a:p>
        </p:txBody>
      </p:sp>
      <p:sp>
        <p:nvSpPr>
          <p:cNvPr id="6" name="Footer Placeholder 5">
            <a:extLst>
              <a:ext uri="{FF2B5EF4-FFF2-40B4-BE49-F238E27FC236}">
                <a16:creationId xmlns:a16="http://schemas.microsoft.com/office/drawing/2014/main" id="{6955D69C-4B76-7286-6C80-C317BDA4254F}"/>
              </a:ext>
            </a:extLst>
          </p:cNvPr>
          <p:cNvSpPr>
            <a:spLocks noGrp="1"/>
          </p:cNvSpPr>
          <p:nvPr>
            <p:ph type="ftr" sz="quarter" idx="11"/>
          </p:nvPr>
        </p:nvSpPr>
        <p:spPr/>
        <p:txBody>
          <a:bodyPr/>
          <a:lstStyle/>
          <a:p>
            <a:endParaRPr lang="en-MX"/>
          </a:p>
        </p:txBody>
      </p:sp>
      <p:sp>
        <p:nvSpPr>
          <p:cNvPr id="7" name="Slide Number Placeholder 6">
            <a:extLst>
              <a:ext uri="{FF2B5EF4-FFF2-40B4-BE49-F238E27FC236}">
                <a16:creationId xmlns:a16="http://schemas.microsoft.com/office/drawing/2014/main" id="{96F5C80F-3219-93D3-D3CC-524DCE2887AC}"/>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2764954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527B6-35F0-3A78-B192-7460870C5882}"/>
              </a:ext>
            </a:extLst>
          </p:cNvPr>
          <p:cNvSpPr>
            <a:spLocks noGrp="1"/>
          </p:cNvSpPr>
          <p:nvPr>
            <p:ph type="title"/>
          </p:nvPr>
        </p:nvSpPr>
        <p:spPr/>
        <p:txBody>
          <a:bodyPr/>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866D2475-1653-A645-1576-D522A239A9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BE6C5B69-4EE9-09A8-F279-2614BFA7CF60}"/>
              </a:ext>
            </a:extLst>
          </p:cNvPr>
          <p:cNvSpPr>
            <a:spLocks noGrp="1"/>
          </p:cNvSpPr>
          <p:nvPr>
            <p:ph type="dt" sz="half" idx="10"/>
          </p:nvPr>
        </p:nvSpPr>
        <p:spPr/>
        <p:txBody>
          <a:bodyPr/>
          <a:lstStyle/>
          <a:p>
            <a:fld id="{B184E338-A699-6243-97AE-0FA309E8D06A}" type="datetimeFigureOut">
              <a:rPr lang="en-MX" smtClean="0"/>
              <a:t>09/05/24</a:t>
            </a:fld>
            <a:endParaRPr lang="en-MX"/>
          </a:p>
        </p:txBody>
      </p:sp>
      <p:sp>
        <p:nvSpPr>
          <p:cNvPr id="5" name="Footer Placeholder 4">
            <a:extLst>
              <a:ext uri="{FF2B5EF4-FFF2-40B4-BE49-F238E27FC236}">
                <a16:creationId xmlns:a16="http://schemas.microsoft.com/office/drawing/2014/main" id="{30133187-5E2E-D3F2-3D9B-7BFFE1CB5C6B}"/>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DE20A51B-961C-90BC-4A3D-A09EBDA33AAE}"/>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29579740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741F4A-5BDA-6091-E25F-3DFF2A1CFF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X"/>
          </a:p>
        </p:txBody>
      </p:sp>
      <p:sp>
        <p:nvSpPr>
          <p:cNvPr id="3" name="Vertical Text Placeholder 2">
            <a:extLst>
              <a:ext uri="{FF2B5EF4-FFF2-40B4-BE49-F238E27FC236}">
                <a16:creationId xmlns:a16="http://schemas.microsoft.com/office/drawing/2014/main" id="{528DE410-C097-FA95-2E04-73ACB24B5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B66E00D9-5922-73F5-2766-96CC8667C5BD}"/>
              </a:ext>
            </a:extLst>
          </p:cNvPr>
          <p:cNvSpPr>
            <a:spLocks noGrp="1"/>
          </p:cNvSpPr>
          <p:nvPr>
            <p:ph type="dt" sz="half" idx="10"/>
          </p:nvPr>
        </p:nvSpPr>
        <p:spPr/>
        <p:txBody>
          <a:bodyPr/>
          <a:lstStyle/>
          <a:p>
            <a:fld id="{B184E338-A699-6243-97AE-0FA309E8D06A}" type="datetimeFigureOut">
              <a:rPr lang="en-MX" smtClean="0"/>
              <a:t>09/05/24</a:t>
            </a:fld>
            <a:endParaRPr lang="en-MX"/>
          </a:p>
        </p:txBody>
      </p:sp>
      <p:sp>
        <p:nvSpPr>
          <p:cNvPr id="5" name="Footer Placeholder 4">
            <a:extLst>
              <a:ext uri="{FF2B5EF4-FFF2-40B4-BE49-F238E27FC236}">
                <a16:creationId xmlns:a16="http://schemas.microsoft.com/office/drawing/2014/main" id="{1EC1F95D-BE29-A0FB-4875-566C39375E33}"/>
              </a:ext>
            </a:extLst>
          </p:cNvPr>
          <p:cNvSpPr>
            <a:spLocks noGrp="1"/>
          </p:cNvSpPr>
          <p:nvPr>
            <p:ph type="ftr" sz="quarter" idx="11"/>
          </p:nvPr>
        </p:nvSpPr>
        <p:spPr/>
        <p:txBody>
          <a:bodyPr/>
          <a:lstStyle/>
          <a:p>
            <a:endParaRPr lang="en-MX"/>
          </a:p>
        </p:txBody>
      </p:sp>
      <p:sp>
        <p:nvSpPr>
          <p:cNvPr id="6" name="Slide Number Placeholder 5">
            <a:extLst>
              <a:ext uri="{FF2B5EF4-FFF2-40B4-BE49-F238E27FC236}">
                <a16:creationId xmlns:a16="http://schemas.microsoft.com/office/drawing/2014/main" id="{376A5B16-E813-9E35-40CF-493F13D1CC72}"/>
              </a:ext>
            </a:extLst>
          </p:cNvPr>
          <p:cNvSpPr>
            <a:spLocks noGrp="1"/>
          </p:cNvSpPr>
          <p:nvPr>
            <p:ph type="sldNum" sz="quarter" idx="12"/>
          </p:nvPr>
        </p:nvSpPr>
        <p:spPr/>
        <p:txBody>
          <a:bodyPr/>
          <a:lstStyle/>
          <a:p>
            <a:fld id="{908F569B-39A9-F642-A2E1-A82D240BF61F}" type="slidenum">
              <a:rPr lang="en-MX" smtClean="0"/>
              <a:t>‹#›</a:t>
            </a:fld>
            <a:endParaRPr lang="en-MX"/>
          </a:p>
        </p:txBody>
      </p:sp>
    </p:spTree>
    <p:extLst>
      <p:ext uri="{BB962C8B-B14F-4D97-AF65-F5344CB8AC3E}">
        <p14:creationId xmlns:p14="http://schemas.microsoft.com/office/powerpoint/2010/main" val="193334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D3AA74-3C60-DA45-6E25-33A505DFEC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X"/>
          </a:p>
        </p:txBody>
      </p:sp>
      <p:sp>
        <p:nvSpPr>
          <p:cNvPr id="3" name="Text Placeholder 2">
            <a:extLst>
              <a:ext uri="{FF2B5EF4-FFF2-40B4-BE49-F238E27FC236}">
                <a16:creationId xmlns:a16="http://schemas.microsoft.com/office/drawing/2014/main" id="{D74C9913-12BC-D774-229F-7B310429C0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X"/>
          </a:p>
        </p:txBody>
      </p:sp>
      <p:sp>
        <p:nvSpPr>
          <p:cNvPr id="4" name="Date Placeholder 3">
            <a:extLst>
              <a:ext uri="{FF2B5EF4-FFF2-40B4-BE49-F238E27FC236}">
                <a16:creationId xmlns:a16="http://schemas.microsoft.com/office/drawing/2014/main" id="{8CDD6009-0749-9A7C-4720-DE0A228DB3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184E338-A699-6243-97AE-0FA309E8D06A}" type="datetimeFigureOut">
              <a:rPr lang="en-MX" smtClean="0"/>
              <a:t>09/05/24</a:t>
            </a:fld>
            <a:endParaRPr lang="en-MX"/>
          </a:p>
        </p:txBody>
      </p:sp>
      <p:sp>
        <p:nvSpPr>
          <p:cNvPr id="5" name="Footer Placeholder 4">
            <a:extLst>
              <a:ext uri="{FF2B5EF4-FFF2-40B4-BE49-F238E27FC236}">
                <a16:creationId xmlns:a16="http://schemas.microsoft.com/office/drawing/2014/main" id="{A4FCDF66-877E-30CA-780C-A0F2AF2C20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X"/>
          </a:p>
        </p:txBody>
      </p:sp>
      <p:sp>
        <p:nvSpPr>
          <p:cNvPr id="6" name="Slide Number Placeholder 5">
            <a:extLst>
              <a:ext uri="{FF2B5EF4-FFF2-40B4-BE49-F238E27FC236}">
                <a16:creationId xmlns:a16="http://schemas.microsoft.com/office/drawing/2014/main" id="{A6E3B671-5114-0C07-386E-AE2D78A97D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8F569B-39A9-F642-A2E1-A82D240BF61F}" type="slidenum">
              <a:rPr lang="en-MX" smtClean="0"/>
              <a:t>‹#›</a:t>
            </a:fld>
            <a:endParaRPr lang="en-MX"/>
          </a:p>
        </p:txBody>
      </p:sp>
    </p:spTree>
    <p:extLst>
      <p:ext uri="{BB962C8B-B14F-4D97-AF65-F5344CB8AC3E}">
        <p14:creationId xmlns:p14="http://schemas.microsoft.com/office/powerpoint/2010/main" val="41039400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B9D28-C34F-B4F9-BB5D-AEE222550FAC}"/>
              </a:ext>
            </a:extLst>
          </p:cNvPr>
          <p:cNvSpPr>
            <a:spLocks noGrp="1"/>
          </p:cNvSpPr>
          <p:nvPr>
            <p:ph type="ctrTitle"/>
          </p:nvPr>
        </p:nvSpPr>
        <p:spPr>
          <a:xfrm>
            <a:off x="1137462" y="2583293"/>
            <a:ext cx="9144000" cy="1075682"/>
          </a:xfrm>
        </p:spPr>
        <p:txBody>
          <a:bodyPr>
            <a:noAutofit/>
          </a:bodyPr>
          <a:lstStyle/>
          <a:p>
            <a:r>
              <a:rPr lang="en-US" sz="4000" b="1" dirty="0"/>
              <a:t>W</a:t>
            </a:r>
            <a:r>
              <a:rPr lang="en-MX" sz="4000" b="1" dirty="0"/>
              <a:t>03 Gathering</a:t>
            </a:r>
            <a:br>
              <a:rPr lang="en-MX" sz="4000" b="1" dirty="0"/>
            </a:br>
            <a:r>
              <a:rPr lang="en-MX" sz="40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Time Management and Goals</a:t>
            </a:r>
            <a:endParaRPr lang="en-MX" sz="4000" b="1" dirty="0"/>
          </a:p>
        </p:txBody>
      </p:sp>
      <p:sp>
        <p:nvSpPr>
          <p:cNvPr id="3" name="Subtitle 2">
            <a:extLst>
              <a:ext uri="{FF2B5EF4-FFF2-40B4-BE49-F238E27FC236}">
                <a16:creationId xmlns:a16="http://schemas.microsoft.com/office/drawing/2014/main" id="{F94E967C-0CB9-6389-9D20-04BEF617443F}"/>
              </a:ext>
            </a:extLst>
          </p:cNvPr>
          <p:cNvSpPr>
            <a:spLocks noGrp="1"/>
          </p:cNvSpPr>
          <p:nvPr>
            <p:ph type="subTitle" idx="1"/>
          </p:nvPr>
        </p:nvSpPr>
        <p:spPr>
          <a:xfrm>
            <a:off x="1229742" y="4066188"/>
            <a:ext cx="9144000" cy="720150"/>
          </a:xfrm>
        </p:spPr>
        <p:txBody>
          <a:bodyPr>
            <a:normAutofit/>
          </a:bodyPr>
          <a:lstStyle/>
          <a:p>
            <a:r>
              <a:rPr lang="en-MX" sz="4400" dirty="0"/>
              <a:t>Welcome!!</a:t>
            </a:r>
          </a:p>
        </p:txBody>
      </p:sp>
      <p:sp>
        <p:nvSpPr>
          <p:cNvPr id="6" name="Rectangle 5">
            <a:extLst>
              <a:ext uri="{FF2B5EF4-FFF2-40B4-BE49-F238E27FC236}">
                <a16:creationId xmlns:a16="http://schemas.microsoft.com/office/drawing/2014/main" id="{5F41FBA0-4EE5-D6E6-DB0E-92E526481A56}"/>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8" name="Picture 7">
            <a:extLst>
              <a:ext uri="{FF2B5EF4-FFF2-40B4-BE49-F238E27FC236}">
                <a16:creationId xmlns:a16="http://schemas.microsoft.com/office/drawing/2014/main" id="{30BBAD82-ED2E-1DAD-7940-9DFDA54709B5}"/>
              </a:ext>
            </a:extLst>
          </p:cNvPr>
          <p:cNvPicPr>
            <a:picLocks noChangeAspect="1"/>
          </p:cNvPicPr>
          <p:nvPr/>
        </p:nvPicPr>
        <p:blipFill>
          <a:blip r:embed="rId3"/>
          <a:stretch>
            <a:fillRect/>
          </a:stretch>
        </p:blipFill>
        <p:spPr>
          <a:xfrm>
            <a:off x="-24306" y="6367736"/>
            <a:ext cx="12216306" cy="596900"/>
          </a:xfrm>
          <a:prstGeom prst="rect">
            <a:avLst/>
          </a:prstGeom>
        </p:spPr>
      </p:pic>
      <p:pic>
        <p:nvPicPr>
          <p:cNvPr id="9" name="Picture 8">
            <a:extLst>
              <a:ext uri="{FF2B5EF4-FFF2-40B4-BE49-F238E27FC236}">
                <a16:creationId xmlns:a16="http://schemas.microsoft.com/office/drawing/2014/main" id="{93CCCCAC-80DF-2B8B-EA34-F88001007D0D}"/>
              </a:ext>
            </a:extLst>
          </p:cNvPr>
          <p:cNvPicPr>
            <a:picLocks noChangeAspect="1"/>
          </p:cNvPicPr>
          <p:nvPr/>
        </p:nvPicPr>
        <p:blipFill>
          <a:blip r:embed="rId4"/>
          <a:stretch>
            <a:fillRect/>
          </a:stretch>
        </p:blipFill>
        <p:spPr>
          <a:xfrm>
            <a:off x="436398" y="0"/>
            <a:ext cx="2790122" cy="2176080"/>
          </a:xfrm>
          <a:prstGeom prst="rect">
            <a:avLst/>
          </a:prstGeom>
        </p:spPr>
      </p:pic>
    </p:spTree>
    <p:extLst>
      <p:ext uri="{BB962C8B-B14F-4D97-AF65-F5344CB8AC3E}">
        <p14:creationId xmlns:p14="http://schemas.microsoft.com/office/powerpoint/2010/main" val="9002799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F41FBA0-4EE5-D6E6-DB0E-92E526481A56}"/>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8" name="Picture 7">
            <a:extLst>
              <a:ext uri="{FF2B5EF4-FFF2-40B4-BE49-F238E27FC236}">
                <a16:creationId xmlns:a16="http://schemas.microsoft.com/office/drawing/2014/main" id="{30BBAD82-ED2E-1DAD-7940-9DFDA54709B5}"/>
              </a:ext>
            </a:extLst>
          </p:cNvPr>
          <p:cNvPicPr>
            <a:picLocks noChangeAspect="1"/>
          </p:cNvPicPr>
          <p:nvPr/>
        </p:nvPicPr>
        <p:blipFill>
          <a:blip r:embed="rId2"/>
          <a:stretch>
            <a:fillRect/>
          </a:stretch>
        </p:blipFill>
        <p:spPr>
          <a:xfrm>
            <a:off x="-24306" y="6367736"/>
            <a:ext cx="12216306" cy="596900"/>
          </a:xfrm>
          <a:prstGeom prst="rect">
            <a:avLst/>
          </a:prstGeom>
        </p:spPr>
      </p:pic>
      <p:pic>
        <p:nvPicPr>
          <p:cNvPr id="9" name="Picture 8">
            <a:extLst>
              <a:ext uri="{FF2B5EF4-FFF2-40B4-BE49-F238E27FC236}">
                <a16:creationId xmlns:a16="http://schemas.microsoft.com/office/drawing/2014/main" id="{93CCCCAC-80DF-2B8B-EA34-F88001007D0D}"/>
              </a:ext>
            </a:extLst>
          </p:cNvPr>
          <p:cNvPicPr>
            <a:picLocks noChangeAspect="1"/>
          </p:cNvPicPr>
          <p:nvPr/>
        </p:nvPicPr>
        <p:blipFill>
          <a:blip r:embed="rId3"/>
          <a:stretch>
            <a:fillRect/>
          </a:stretch>
        </p:blipFill>
        <p:spPr>
          <a:xfrm>
            <a:off x="436398" y="0"/>
            <a:ext cx="2790122" cy="2176080"/>
          </a:xfrm>
          <a:prstGeom prst="rect">
            <a:avLst/>
          </a:prstGeom>
        </p:spPr>
      </p:pic>
      <p:sp>
        <p:nvSpPr>
          <p:cNvPr id="11" name="Title 1">
            <a:extLst>
              <a:ext uri="{FF2B5EF4-FFF2-40B4-BE49-F238E27FC236}">
                <a16:creationId xmlns:a16="http://schemas.microsoft.com/office/drawing/2014/main" id="{FBCE3B28-8129-C0B7-632F-7D54E2D5474B}"/>
              </a:ext>
            </a:extLst>
          </p:cNvPr>
          <p:cNvSpPr txBox="1">
            <a:spLocks/>
          </p:cNvSpPr>
          <p:nvPr/>
        </p:nvSpPr>
        <p:spPr>
          <a:xfrm>
            <a:off x="663671" y="1279106"/>
            <a:ext cx="10515600" cy="896974"/>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MX" b="1" dirty="0"/>
              <a:t>Agenda</a:t>
            </a:r>
          </a:p>
        </p:txBody>
      </p:sp>
      <p:sp>
        <p:nvSpPr>
          <p:cNvPr id="12" name="Content Placeholder 2">
            <a:extLst>
              <a:ext uri="{FF2B5EF4-FFF2-40B4-BE49-F238E27FC236}">
                <a16:creationId xmlns:a16="http://schemas.microsoft.com/office/drawing/2014/main" id="{90852E6C-BC27-9260-4E06-164B2370B8AB}"/>
              </a:ext>
            </a:extLst>
          </p:cNvPr>
          <p:cNvSpPr txBox="1">
            <a:spLocks/>
          </p:cNvSpPr>
          <p:nvPr/>
        </p:nvSpPr>
        <p:spPr>
          <a:xfrm>
            <a:off x="1502571" y="2314874"/>
            <a:ext cx="5368013" cy="3628131"/>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MX" sz="2500" b="1" dirty="0"/>
              <a:t>- Welcome and Devotional</a:t>
            </a:r>
          </a:p>
          <a:p>
            <a:pPr algn="l"/>
            <a:r>
              <a:rPr lang="en-MX" sz="1500" dirty="0"/>
              <a:t>            - Openning Prayer: Roxana</a:t>
            </a:r>
          </a:p>
          <a:p>
            <a:pPr lvl="1" algn="l"/>
            <a:r>
              <a:rPr lang="en-MX" sz="1500" dirty="0"/>
              <a:t>- Spiritual thought: Leilani</a:t>
            </a:r>
          </a:p>
          <a:p>
            <a:pPr algn="l"/>
            <a:r>
              <a:rPr lang="en-MX" sz="2500" b="1" kern="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Introduction to Spreadsheets</a:t>
            </a:r>
          </a:p>
          <a:p>
            <a:pPr algn="l"/>
            <a:r>
              <a:rPr lang="en-MX" sz="2500" b="1" kern="1800" dirty="0">
                <a:solidFill>
                  <a:srgbClr val="000000"/>
                </a:solidFill>
                <a:latin typeface="Arial" panose="020B0604020202020204" pitchFamily="34" charset="0"/>
                <a:cs typeface="Times New Roman" panose="02020603050405020304" pitchFamily="18" charset="0"/>
              </a:rPr>
              <a:t>- Goals</a:t>
            </a:r>
          </a:p>
          <a:p>
            <a:pPr lvl="1" algn="l"/>
            <a:r>
              <a:rPr lang="en-MX" sz="1500" kern="1800" dirty="0">
                <a:solidFill>
                  <a:srgbClr val="000000"/>
                </a:solidFill>
                <a:latin typeface="Arial" panose="020B0604020202020204" pitchFamily="34" charset="0"/>
                <a:cs typeface="Times New Roman" panose="02020603050405020304" pitchFamily="18" charset="0"/>
              </a:rPr>
              <a:t>- Read and Discuss</a:t>
            </a:r>
          </a:p>
          <a:p>
            <a:pPr lvl="1" algn="l"/>
            <a:r>
              <a:rPr lang="en-MX" sz="1500" kern="1800" dirty="0">
                <a:solidFill>
                  <a:srgbClr val="000000"/>
                </a:solidFill>
                <a:latin typeface="Arial" panose="020B0604020202020204" pitchFamily="34" charset="0"/>
                <a:cs typeface="Times New Roman" panose="02020603050405020304" pitchFamily="18" charset="0"/>
              </a:rPr>
              <a:t>- Share</a:t>
            </a:r>
          </a:p>
          <a:p>
            <a:pPr lvl="1" algn="l"/>
            <a:r>
              <a:rPr lang="en-MX" sz="1500" dirty="0"/>
              <a:t>- Class Activity</a:t>
            </a:r>
          </a:p>
          <a:p>
            <a:pPr lvl="1" algn="l"/>
            <a:r>
              <a:rPr lang="en-MX" sz="1500" dirty="0"/>
              <a:t>- Group Presentation</a:t>
            </a:r>
          </a:p>
          <a:p>
            <a:pPr algn="l"/>
            <a:r>
              <a:rPr lang="en-MX" sz="2500" b="1" dirty="0"/>
              <a:t>Testimony and Prayer</a:t>
            </a:r>
          </a:p>
          <a:p>
            <a:pPr algn="l"/>
            <a:r>
              <a:rPr lang="en-MX" sz="1500" dirty="0"/>
              <a:t>             - Closing prayer: Iyari Lozano</a:t>
            </a:r>
          </a:p>
        </p:txBody>
      </p:sp>
      <p:sp>
        <p:nvSpPr>
          <p:cNvPr id="2" name="Content Placeholder 2">
            <a:extLst>
              <a:ext uri="{FF2B5EF4-FFF2-40B4-BE49-F238E27FC236}">
                <a16:creationId xmlns:a16="http://schemas.microsoft.com/office/drawing/2014/main" id="{71E2CE59-5452-AD37-9684-CF46A6AE545C}"/>
              </a:ext>
            </a:extLst>
          </p:cNvPr>
          <p:cNvSpPr txBox="1">
            <a:spLocks/>
          </p:cNvSpPr>
          <p:nvPr/>
        </p:nvSpPr>
        <p:spPr>
          <a:xfrm>
            <a:off x="7587843" y="2314874"/>
            <a:ext cx="3420368" cy="233719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MX" sz="2500" b="1" dirty="0"/>
              <a:t>- Lead Students:</a:t>
            </a:r>
          </a:p>
          <a:p>
            <a:pPr algn="l"/>
            <a:r>
              <a:rPr lang="en-MX" sz="1500" b="1" dirty="0"/>
              <a:t>           - Gustavo Tadeo</a:t>
            </a:r>
          </a:p>
          <a:p>
            <a:pPr algn="l"/>
            <a:r>
              <a:rPr lang="en-MX" sz="1500" b="1" dirty="0"/>
              <a:t>            - Julio Celón</a:t>
            </a:r>
            <a:endParaRPr lang="en-MX" sz="1500" dirty="0"/>
          </a:p>
        </p:txBody>
      </p:sp>
    </p:spTree>
    <p:extLst>
      <p:ext uri="{BB962C8B-B14F-4D97-AF65-F5344CB8AC3E}">
        <p14:creationId xmlns:p14="http://schemas.microsoft.com/office/powerpoint/2010/main" val="1502928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8BD15-5D99-E16F-BE4E-01D12E31A3DA}"/>
              </a:ext>
            </a:extLst>
          </p:cNvPr>
          <p:cNvSpPr>
            <a:spLocks noGrp="1"/>
          </p:cNvSpPr>
          <p:nvPr>
            <p:ph type="title"/>
          </p:nvPr>
        </p:nvSpPr>
        <p:spPr>
          <a:xfrm>
            <a:off x="4043856" y="925782"/>
            <a:ext cx="10515600" cy="1325563"/>
          </a:xfrm>
        </p:spPr>
        <p:txBody>
          <a:bodyPr/>
          <a:lstStyle/>
          <a:p>
            <a:r>
              <a:rPr lang="en-MX" b="1" dirty="0"/>
              <a:t>W03 Devotional</a:t>
            </a:r>
          </a:p>
        </p:txBody>
      </p:sp>
      <p:sp>
        <p:nvSpPr>
          <p:cNvPr id="3" name="Content Placeholder 2">
            <a:extLst>
              <a:ext uri="{FF2B5EF4-FFF2-40B4-BE49-F238E27FC236}">
                <a16:creationId xmlns:a16="http://schemas.microsoft.com/office/drawing/2014/main" id="{80C69746-C85E-A471-4AB5-5F066C345FE2}"/>
              </a:ext>
            </a:extLst>
          </p:cNvPr>
          <p:cNvSpPr>
            <a:spLocks noGrp="1"/>
          </p:cNvSpPr>
          <p:nvPr>
            <p:ph idx="1"/>
          </p:nvPr>
        </p:nvSpPr>
        <p:spPr>
          <a:xfrm>
            <a:off x="1006066" y="2348934"/>
            <a:ext cx="4797754" cy="962627"/>
          </a:xfrm>
        </p:spPr>
        <p:txBody>
          <a:bodyPr>
            <a:noAutofit/>
          </a:bodyPr>
          <a:lstStyle/>
          <a:p>
            <a:pPr algn="l"/>
            <a:r>
              <a:rPr lang="en-US" sz="4000" b="0" i="0" dirty="0">
                <a:effectLst/>
                <a:highlight>
                  <a:srgbClr val="FFFFFF"/>
                </a:highlight>
                <a:latin typeface="Lato Extended"/>
              </a:rPr>
              <a:t>Simplification and </a:t>
            </a:r>
          </a:p>
          <a:p>
            <a:pPr marL="0" indent="0" algn="l">
              <a:buNone/>
            </a:pPr>
            <a:r>
              <a:rPr lang="en-US" sz="4000" b="0" i="0" dirty="0">
                <a:effectLst/>
                <a:highlight>
                  <a:srgbClr val="FFFFFF"/>
                </a:highlight>
                <a:latin typeface="Lato Extended"/>
              </a:rPr>
              <a:t>Inspiration</a:t>
            </a:r>
          </a:p>
          <a:p>
            <a:pPr marL="0" indent="0" algn="l">
              <a:buNone/>
            </a:pPr>
            <a:br>
              <a:rPr lang="en-US" sz="3800" b="0" i="0" dirty="0">
                <a:solidFill>
                  <a:srgbClr val="000000"/>
                </a:solidFill>
                <a:effectLst/>
                <a:highlight>
                  <a:srgbClr val="FFFFFF"/>
                </a:highlight>
                <a:latin typeface="Lato Extended"/>
              </a:rPr>
            </a:br>
            <a:r>
              <a:rPr lang="en-US" sz="3000" b="0" i="0" dirty="0">
                <a:solidFill>
                  <a:srgbClr val="000000"/>
                </a:solidFill>
                <a:effectLst/>
                <a:highlight>
                  <a:srgbClr val="FFFFFF"/>
                </a:highlight>
                <a:latin typeface="Lato Extended"/>
              </a:rPr>
              <a:t>April 02, 2019</a:t>
            </a:r>
          </a:p>
        </p:txBody>
      </p:sp>
      <p:sp>
        <p:nvSpPr>
          <p:cNvPr id="4" name="Rectangle 3">
            <a:extLst>
              <a:ext uri="{FF2B5EF4-FFF2-40B4-BE49-F238E27FC236}">
                <a16:creationId xmlns:a16="http://schemas.microsoft.com/office/drawing/2014/main" id="{70ED451A-DBF7-2751-5A92-E55320FD0446}"/>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5" name="Picture 4">
            <a:extLst>
              <a:ext uri="{FF2B5EF4-FFF2-40B4-BE49-F238E27FC236}">
                <a16:creationId xmlns:a16="http://schemas.microsoft.com/office/drawing/2014/main" id="{41A54583-882A-03F2-15CA-8064EDAB7F16}"/>
              </a:ext>
            </a:extLst>
          </p:cNvPr>
          <p:cNvPicPr>
            <a:picLocks noChangeAspect="1"/>
          </p:cNvPicPr>
          <p:nvPr/>
        </p:nvPicPr>
        <p:blipFill>
          <a:blip r:embed="rId2"/>
          <a:stretch>
            <a:fillRect/>
          </a:stretch>
        </p:blipFill>
        <p:spPr>
          <a:xfrm>
            <a:off x="-24306" y="6367736"/>
            <a:ext cx="12216306" cy="596900"/>
          </a:xfrm>
          <a:prstGeom prst="rect">
            <a:avLst/>
          </a:prstGeom>
        </p:spPr>
      </p:pic>
      <p:pic>
        <p:nvPicPr>
          <p:cNvPr id="7" name="Picture 6">
            <a:extLst>
              <a:ext uri="{FF2B5EF4-FFF2-40B4-BE49-F238E27FC236}">
                <a16:creationId xmlns:a16="http://schemas.microsoft.com/office/drawing/2014/main" id="{45B482C4-C185-EEA8-A2E6-328048E3B674}"/>
              </a:ext>
            </a:extLst>
          </p:cNvPr>
          <p:cNvPicPr>
            <a:picLocks noChangeAspect="1"/>
          </p:cNvPicPr>
          <p:nvPr/>
        </p:nvPicPr>
        <p:blipFill>
          <a:blip r:embed="rId3"/>
          <a:stretch>
            <a:fillRect/>
          </a:stretch>
        </p:blipFill>
        <p:spPr>
          <a:xfrm>
            <a:off x="436398" y="0"/>
            <a:ext cx="2117616" cy="1651577"/>
          </a:xfrm>
          <a:prstGeom prst="rect">
            <a:avLst/>
          </a:prstGeom>
        </p:spPr>
      </p:pic>
      <p:pic>
        <p:nvPicPr>
          <p:cNvPr id="8" name="Picture 7">
            <a:extLst>
              <a:ext uri="{FF2B5EF4-FFF2-40B4-BE49-F238E27FC236}">
                <a16:creationId xmlns:a16="http://schemas.microsoft.com/office/drawing/2014/main" id="{D180BC2C-1E83-58BF-6BFC-B6DA2CFE5FDB}"/>
              </a:ext>
            </a:extLst>
          </p:cNvPr>
          <p:cNvPicPr>
            <a:picLocks noChangeAspect="1"/>
          </p:cNvPicPr>
          <p:nvPr/>
        </p:nvPicPr>
        <p:blipFill>
          <a:blip r:embed="rId4"/>
          <a:stretch>
            <a:fillRect/>
          </a:stretch>
        </p:blipFill>
        <p:spPr>
          <a:xfrm>
            <a:off x="6222755" y="2251345"/>
            <a:ext cx="5483035" cy="3754512"/>
          </a:xfrm>
          <a:prstGeom prst="rect">
            <a:avLst/>
          </a:prstGeom>
        </p:spPr>
      </p:pic>
      <p:sp>
        <p:nvSpPr>
          <p:cNvPr id="10" name="Rectangle 9">
            <a:extLst>
              <a:ext uri="{FF2B5EF4-FFF2-40B4-BE49-F238E27FC236}">
                <a16:creationId xmlns:a16="http://schemas.microsoft.com/office/drawing/2014/main" id="{C084D126-CCD7-8EBA-B840-F2724899179B}"/>
              </a:ext>
            </a:extLst>
          </p:cNvPr>
          <p:cNvSpPr/>
          <p:nvPr/>
        </p:nvSpPr>
        <p:spPr>
          <a:xfrm>
            <a:off x="486213" y="3856518"/>
            <a:ext cx="5483034"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Tree>
    <p:extLst>
      <p:ext uri="{BB962C8B-B14F-4D97-AF65-F5344CB8AC3E}">
        <p14:creationId xmlns:p14="http://schemas.microsoft.com/office/powerpoint/2010/main" val="3207189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8BD15-5D99-E16F-BE4E-01D12E31A3DA}"/>
              </a:ext>
            </a:extLst>
          </p:cNvPr>
          <p:cNvSpPr>
            <a:spLocks noGrp="1"/>
          </p:cNvSpPr>
          <p:nvPr>
            <p:ph type="title"/>
          </p:nvPr>
        </p:nvSpPr>
        <p:spPr>
          <a:xfrm>
            <a:off x="4043856" y="925782"/>
            <a:ext cx="4322378" cy="1325563"/>
          </a:xfrm>
        </p:spPr>
        <p:txBody>
          <a:bodyPr/>
          <a:lstStyle/>
          <a:p>
            <a:r>
              <a:rPr lang="en-MX" b="1" dirty="0"/>
              <a:t>W03 Devotional</a:t>
            </a:r>
          </a:p>
        </p:txBody>
      </p:sp>
      <p:sp>
        <p:nvSpPr>
          <p:cNvPr id="3" name="TextBox 2">
            <a:extLst>
              <a:ext uri="{FF2B5EF4-FFF2-40B4-BE49-F238E27FC236}">
                <a16:creationId xmlns:a16="http://schemas.microsoft.com/office/drawing/2014/main" id="{C2397D76-7165-5481-D271-8DDF5F43A1C2}"/>
              </a:ext>
            </a:extLst>
          </p:cNvPr>
          <p:cNvSpPr txBox="1"/>
          <p:nvPr/>
        </p:nvSpPr>
        <p:spPr>
          <a:xfrm>
            <a:off x="646605" y="2251345"/>
            <a:ext cx="10155621" cy="3308598"/>
          </a:xfrm>
          <a:prstGeom prst="rect">
            <a:avLst/>
          </a:prstGeom>
          <a:noFill/>
        </p:spPr>
        <p:txBody>
          <a:bodyPr wrap="square">
            <a:spAutoFit/>
          </a:bodyPr>
          <a:lstStyle/>
          <a:p>
            <a:pPr algn="l"/>
            <a:r>
              <a:rPr lang="en-US" sz="4000" b="0" i="0" dirty="0">
                <a:effectLst/>
                <a:highlight>
                  <a:srgbClr val="FFFFFF"/>
                </a:highlight>
                <a:latin typeface="Lato Extended"/>
              </a:rPr>
              <a:t>Discussion Questions for the Gathering</a:t>
            </a:r>
          </a:p>
          <a:p>
            <a:pPr algn="l"/>
            <a:endParaRPr lang="en-US" b="0" i="0" dirty="0">
              <a:effectLst/>
              <a:highlight>
                <a:srgbClr val="FFFFFF"/>
              </a:highlight>
              <a:latin typeface="Lato Extended"/>
            </a:endParaRPr>
          </a:p>
          <a:p>
            <a:pPr algn="l"/>
            <a:endParaRPr lang="en-US" b="0" i="0" dirty="0">
              <a:effectLst/>
              <a:highlight>
                <a:srgbClr val="FFFFFF"/>
              </a:highlight>
              <a:latin typeface="Lato Extended"/>
            </a:endParaRPr>
          </a:p>
          <a:p>
            <a:pPr algn="l">
              <a:buFont typeface="Arial" panose="020B0604020202020204" pitchFamily="34" charset="0"/>
              <a:buChar char="•"/>
            </a:pPr>
            <a:r>
              <a:rPr lang="en-US" sz="3600" b="0" i="0" dirty="0">
                <a:solidFill>
                  <a:srgbClr val="000000"/>
                </a:solidFill>
                <a:effectLst/>
                <a:highlight>
                  <a:srgbClr val="FFFFFF"/>
                </a:highlight>
                <a:latin typeface="Lato Extended"/>
              </a:rPr>
              <a:t> As you think of your list of things to do, what can you simplify or remove?</a:t>
            </a:r>
          </a:p>
          <a:p>
            <a:pPr algn="l"/>
            <a:endParaRPr lang="en-US" sz="2500" b="0" i="0" dirty="0">
              <a:solidFill>
                <a:srgbClr val="000000"/>
              </a:solidFill>
              <a:effectLst/>
              <a:highlight>
                <a:srgbClr val="FFFFFF"/>
              </a:highlight>
              <a:latin typeface="Lato Extended"/>
            </a:endParaRPr>
          </a:p>
          <a:p>
            <a:pPr algn="l">
              <a:buFont typeface="Arial" panose="020B0604020202020204" pitchFamily="34" charset="0"/>
              <a:buChar char="•"/>
            </a:pPr>
            <a:r>
              <a:rPr lang="en-US" sz="3600" b="0" i="0" dirty="0">
                <a:solidFill>
                  <a:srgbClr val="000000"/>
                </a:solidFill>
                <a:effectLst/>
                <a:highlight>
                  <a:srgbClr val="FFFFFF"/>
                </a:highlight>
                <a:latin typeface="Lato Extended"/>
              </a:rPr>
              <a:t> What is absolutely critical to keep in your life?</a:t>
            </a:r>
          </a:p>
        </p:txBody>
      </p:sp>
      <p:sp>
        <p:nvSpPr>
          <p:cNvPr id="6" name="Rectangle 5">
            <a:extLst>
              <a:ext uri="{FF2B5EF4-FFF2-40B4-BE49-F238E27FC236}">
                <a16:creationId xmlns:a16="http://schemas.microsoft.com/office/drawing/2014/main" id="{2CB00A34-209F-87D0-4084-8F1FA14FDEC5}"/>
              </a:ext>
            </a:extLst>
          </p:cNvPr>
          <p:cNvSpPr/>
          <p:nvPr/>
        </p:nvSpPr>
        <p:spPr>
          <a:xfrm>
            <a:off x="646604" y="3131408"/>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grpSp>
        <p:nvGrpSpPr>
          <p:cNvPr id="14" name="Group 13">
            <a:extLst>
              <a:ext uri="{FF2B5EF4-FFF2-40B4-BE49-F238E27FC236}">
                <a16:creationId xmlns:a16="http://schemas.microsoft.com/office/drawing/2014/main" id="{FCCB9C13-DD12-D8EB-CB02-A9548073F1B0}"/>
              </a:ext>
            </a:extLst>
          </p:cNvPr>
          <p:cNvGrpSpPr/>
          <p:nvPr/>
        </p:nvGrpSpPr>
        <p:grpSpPr>
          <a:xfrm>
            <a:off x="-24306" y="0"/>
            <a:ext cx="12216306" cy="6964636"/>
            <a:chOff x="-24306" y="0"/>
            <a:chExt cx="12216306" cy="6964636"/>
          </a:xfrm>
        </p:grpSpPr>
        <p:pic>
          <p:nvPicPr>
            <p:cNvPr id="15" name="Picture 14">
              <a:extLst>
                <a:ext uri="{FF2B5EF4-FFF2-40B4-BE49-F238E27FC236}">
                  <a16:creationId xmlns:a16="http://schemas.microsoft.com/office/drawing/2014/main" id="{B2483228-B0A0-C981-D143-655C98CC0E9F}"/>
                </a:ext>
              </a:extLst>
            </p:cNvPr>
            <p:cNvPicPr>
              <a:picLocks noChangeAspect="1"/>
            </p:cNvPicPr>
            <p:nvPr/>
          </p:nvPicPr>
          <p:blipFill>
            <a:blip r:embed="rId2"/>
            <a:stretch>
              <a:fillRect/>
            </a:stretch>
          </p:blipFill>
          <p:spPr>
            <a:xfrm>
              <a:off x="-24306" y="6367736"/>
              <a:ext cx="12216306" cy="596900"/>
            </a:xfrm>
            <a:prstGeom prst="rect">
              <a:avLst/>
            </a:prstGeom>
          </p:spPr>
        </p:pic>
        <p:grpSp>
          <p:nvGrpSpPr>
            <p:cNvPr id="16" name="Group 15">
              <a:extLst>
                <a:ext uri="{FF2B5EF4-FFF2-40B4-BE49-F238E27FC236}">
                  <a16:creationId xmlns:a16="http://schemas.microsoft.com/office/drawing/2014/main" id="{9888D554-F70A-D4BA-52ED-ECEB41F15D89}"/>
                </a:ext>
              </a:extLst>
            </p:cNvPr>
            <p:cNvGrpSpPr/>
            <p:nvPr/>
          </p:nvGrpSpPr>
          <p:grpSpPr>
            <a:xfrm>
              <a:off x="0" y="0"/>
              <a:ext cx="12192000" cy="1651577"/>
              <a:chOff x="0" y="0"/>
              <a:chExt cx="12192000" cy="1651577"/>
            </a:xfrm>
          </p:grpSpPr>
          <p:sp>
            <p:nvSpPr>
              <p:cNvPr id="17" name="Rectangle 16">
                <a:extLst>
                  <a:ext uri="{FF2B5EF4-FFF2-40B4-BE49-F238E27FC236}">
                    <a16:creationId xmlns:a16="http://schemas.microsoft.com/office/drawing/2014/main" id="{597F546B-28FE-EBB3-293A-EF9F246BBC8C}"/>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8" name="Picture 17">
                <a:extLst>
                  <a:ext uri="{FF2B5EF4-FFF2-40B4-BE49-F238E27FC236}">
                    <a16:creationId xmlns:a16="http://schemas.microsoft.com/office/drawing/2014/main" id="{326667E2-D421-0085-4295-B6C59C60B589}"/>
                  </a:ext>
                </a:extLst>
              </p:cNvPr>
              <p:cNvPicPr>
                <a:picLocks noChangeAspect="1"/>
              </p:cNvPicPr>
              <p:nvPr/>
            </p:nvPicPr>
            <p:blipFill>
              <a:blip r:embed="rId3"/>
              <a:stretch>
                <a:fillRect/>
              </a:stretch>
            </p:blipFill>
            <p:spPr>
              <a:xfrm>
                <a:off x="436398" y="0"/>
                <a:ext cx="2117616" cy="1651577"/>
              </a:xfrm>
              <a:prstGeom prst="rect">
                <a:avLst/>
              </a:prstGeom>
            </p:spPr>
          </p:pic>
        </p:grpSp>
      </p:grpSp>
    </p:spTree>
    <p:extLst>
      <p:ext uri="{BB962C8B-B14F-4D97-AF65-F5344CB8AC3E}">
        <p14:creationId xmlns:p14="http://schemas.microsoft.com/office/powerpoint/2010/main" val="29369288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8BD15-5D99-E16F-BE4E-01D12E31A3DA}"/>
              </a:ext>
            </a:extLst>
          </p:cNvPr>
          <p:cNvSpPr>
            <a:spLocks noGrp="1"/>
          </p:cNvSpPr>
          <p:nvPr>
            <p:ph type="title"/>
          </p:nvPr>
        </p:nvSpPr>
        <p:spPr>
          <a:xfrm>
            <a:off x="4043856" y="925782"/>
            <a:ext cx="10515600" cy="1325563"/>
          </a:xfrm>
        </p:spPr>
        <p:txBody>
          <a:bodyPr/>
          <a:lstStyle/>
          <a:p>
            <a:r>
              <a:rPr lang="en-MX" b="1" dirty="0"/>
              <a:t>W03 Devotional</a:t>
            </a:r>
          </a:p>
        </p:txBody>
      </p:sp>
      <p:grpSp>
        <p:nvGrpSpPr>
          <p:cNvPr id="15" name="Group 14">
            <a:extLst>
              <a:ext uri="{FF2B5EF4-FFF2-40B4-BE49-F238E27FC236}">
                <a16:creationId xmlns:a16="http://schemas.microsoft.com/office/drawing/2014/main" id="{CD52A075-E6FB-0A3D-6065-BEB02EA1B858}"/>
              </a:ext>
            </a:extLst>
          </p:cNvPr>
          <p:cNvGrpSpPr/>
          <p:nvPr/>
        </p:nvGrpSpPr>
        <p:grpSpPr>
          <a:xfrm>
            <a:off x="-24306" y="0"/>
            <a:ext cx="12216306" cy="6964636"/>
            <a:chOff x="-24306" y="0"/>
            <a:chExt cx="12216306" cy="6964636"/>
          </a:xfrm>
        </p:grpSpPr>
        <p:pic>
          <p:nvPicPr>
            <p:cNvPr id="5" name="Picture 4">
              <a:extLst>
                <a:ext uri="{FF2B5EF4-FFF2-40B4-BE49-F238E27FC236}">
                  <a16:creationId xmlns:a16="http://schemas.microsoft.com/office/drawing/2014/main" id="{41A54583-882A-03F2-15CA-8064EDAB7F16}"/>
                </a:ext>
              </a:extLst>
            </p:cNvPr>
            <p:cNvPicPr>
              <a:picLocks noChangeAspect="1"/>
            </p:cNvPicPr>
            <p:nvPr/>
          </p:nvPicPr>
          <p:blipFill>
            <a:blip r:embed="rId2"/>
            <a:stretch>
              <a:fillRect/>
            </a:stretch>
          </p:blipFill>
          <p:spPr>
            <a:xfrm>
              <a:off x="-24306" y="6367736"/>
              <a:ext cx="12216306" cy="596900"/>
            </a:xfrm>
            <a:prstGeom prst="rect">
              <a:avLst/>
            </a:prstGeom>
          </p:spPr>
        </p:pic>
        <p:grpSp>
          <p:nvGrpSpPr>
            <p:cNvPr id="14" name="Group 13">
              <a:extLst>
                <a:ext uri="{FF2B5EF4-FFF2-40B4-BE49-F238E27FC236}">
                  <a16:creationId xmlns:a16="http://schemas.microsoft.com/office/drawing/2014/main" id="{8FF01225-9DB3-C710-2843-B4A49FA232BC}"/>
                </a:ext>
              </a:extLst>
            </p:cNvPr>
            <p:cNvGrpSpPr/>
            <p:nvPr/>
          </p:nvGrpSpPr>
          <p:grpSpPr>
            <a:xfrm>
              <a:off x="0" y="0"/>
              <a:ext cx="12192000" cy="1651577"/>
              <a:chOff x="0" y="0"/>
              <a:chExt cx="12192000" cy="1651577"/>
            </a:xfrm>
          </p:grpSpPr>
          <p:sp>
            <p:nvSpPr>
              <p:cNvPr id="4" name="Rectangle 3">
                <a:extLst>
                  <a:ext uri="{FF2B5EF4-FFF2-40B4-BE49-F238E27FC236}">
                    <a16:creationId xmlns:a16="http://schemas.microsoft.com/office/drawing/2014/main" id="{70ED451A-DBF7-2751-5A92-E55320FD0446}"/>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7" name="Picture 6">
                <a:extLst>
                  <a:ext uri="{FF2B5EF4-FFF2-40B4-BE49-F238E27FC236}">
                    <a16:creationId xmlns:a16="http://schemas.microsoft.com/office/drawing/2014/main" id="{45B482C4-C185-EEA8-A2E6-328048E3B674}"/>
                  </a:ext>
                </a:extLst>
              </p:cNvPr>
              <p:cNvPicPr>
                <a:picLocks noChangeAspect="1"/>
              </p:cNvPicPr>
              <p:nvPr/>
            </p:nvPicPr>
            <p:blipFill>
              <a:blip r:embed="rId3"/>
              <a:stretch>
                <a:fillRect/>
              </a:stretch>
            </p:blipFill>
            <p:spPr>
              <a:xfrm>
                <a:off x="436398" y="0"/>
                <a:ext cx="2117616" cy="1651577"/>
              </a:xfrm>
              <a:prstGeom prst="rect">
                <a:avLst/>
              </a:prstGeom>
            </p:spPr>
          </p:pic>
        </p:grpSp>
      </p:grpSp>
      <p:sp>
        <p:nvSpPr>
          <p:cNvPr id="11" name="TextBox 10">
            <a:extLst>
              <a:ext uri="{FF2B5EF4-FFF2-40B4-BE49-F238E27FC236}">
                <a16:creationId xmlns:a16="http://schemas.microsoft.com/office/drawing/2014/main" id="{03191779-23F6-AEAC-C286-23A974FD75E7}"/>
              </a:ext>
            </a:extLst>
          </p:cNvPr>
          <p:cNvSpPr txBox="1"/>
          <p:nvPr/>
        </p:nvSpPr>
        <p:spPr>
          <a:xfrm>
            <a:off x="436398" y="1990593"/>
            <a:ext cx="10899228" cy="3139321"/>
          </a:xfrm>
          <a:prstGeom prst="rect">
            <a:avLst/>
          </a:prstGeom>
          <a:noFill/>
        </p:spPr>
        <p:txBody>
          <a:bodyPr wrap="square">
            <a:spAutoFit/>
          </a:bodyPr>
          <a:lstStyle/>
          <a:p>
            <a:pPr algn="l"/>
            <a:r>
              <a:rPr lang="en-US" b="0" i="0" dirty="0">
                <a:solidFill>
                  <a:srgbClr val="636466"/>
                </a:solidFill>
                <a:effectLst/>
                <a:highlight>
                  <a:srgbClr val="FFFFFF"/>
                </a:highlight>
                <a:latin typeface="Open Sans" panose="020F0502020204030204" pitchFamily="34" charset="0"/>
              </a:rPr>
              <a:t>      From Liberty Jail, Joseph Smith authored these optimistic words, “Therefore … let us cheerfully do all things that lie in our power; and then may we stand still, with the utmost assurance, to see the salvation of God, and for his arm to be revealed.”</a:t>
            </a:r>
            <a:r>
              <a:rPr lang="en-US" b="0" i="0" baseline="30000" dirty="0">
                <a:solidFill>
                  <a:srgbClr val="636466"/>
                </a:solidFill>
                <a:effectLst/>
                <a:highlight>
                  <a:srgbClr val="FFFFFF"/>
                </a:highlight>
                <a:latin typeface="Open Sans" panose="020F0502020204030204" pitchFamily="34" charset="0"/>
              </a:rPr>
              <a:t>1</a:t>
            </a:r>
            <a:r>
              <a:rPr lang="en-US" b="0" i="0" dirty="0">
                <a:solidFill>
                  <a:srgbClr val="636466"/>
                </a:solidFill>
                <a:effectLst/>
                <a:highlight>
                  <a:srgbClr val="FFFFFF"/>
                </a:highlight>
                <a:latin typeface="Open Sans" panose="020F0502020204030204" pitchFamily="34" charset="0"/>
              </a:rPr>
              <a:t> When he said, “do all things that lie in our power,”</a:t>
            </a:r>
          </a:p>
          <a:p>
            <a:pPr algn="l"/>
            <a:endParaRPr lang="en-US" dirty="0">
              <a:solidFill>
                <a:srgbClr val="636466"/>
              </a:solidFill>
              <a:highlight>
                <a:srgbClr val="FFFFFF"/>
              </a:highlight>
              <a:latin typeface="Open Sans" panose="020F0502020204030204" pitchFamily="34" charset="0"/>
            </a:endParaRPr>
          </a:p>
          <a:p>
            <a:pPr algn="l"/>
            <a:r>
              <a:rPr lang="en-US" b="0" i="0" dirty="0">
                <a:solidFill>
                  <a:srgbClr val="636466"/>
                </a:solidFill>
                <a:effectLst/>
                <a:highlight>
                  <a:srgbClr val="FFFFFF"/>
                </a:highlight>
                <a:latin typeface="Open Sans" panose="020F0502020204030204" pitchFamily="34" charset="0"/>
              </a:rPr>
              <a:t> Joseph implied that you should focus on things that are important and expend a reasonable effort accomplishing those things.</a:t>
            </a:r>
          </a:p>
          <a:p>
            <a:pPr algn="l"/>
            <a:endParaRPr lang="en-US" dirty="0">
              <a:solidFill>
                <a:srgbClr val="636466"/>
              </a:solidFill>
              <a:highlight>
                <a:srgbClr val="FFFFFF"/>
              </a:highlight>
              <a:latin typeface="Open Sans" panose="020F0502020204030204" pitchFamily="34" charset="0"/>
            </a:endParaRPr>
          </a:p>
          <a:p>
            <a:pPr algn="l"/>
            <a:r>
              <a:rPr lang="en-US" b="0" i="0" dirty="0">
                <a:solidFill>
                  <a:srgbClr val="636466"/>
                </a:solidFill>
                <a:effectLst/>
                <a:highlight>
                  <a:srgbClr val="FFFFFF"/>
                </a:highlight>
                <a:latin typeface="Open Sans" panose="020B0606030504020204" pitchFamily="34" charset="0"/>
              </a:rPr>
              <a:t>He neither implied that you do every possible thing, nor that you run faster than you are able; your effort needs to be sustainable. To know what things are most important, though, you need the help of the Holy Ghost. Once you know your path is inspired, commit to make the reasonable, Spirit-directed effort. As you do, you can count on God’s help.</a:t>
            </a:r>
          </a:p>
        </p:txBody>
      </p:sp>
      <p:sp>
        <p:nvSpPr>
          <p:cNvPr id="12" name="TextBox 11">
            <a:extLst>
              <a:ext uri="{FF2B5EF4-FFF2-40B4-BE49-F238E27FC236}">
                <a16:creationId xmlns:a16="http://schemas.microsoft.com/office/drawing/2014/main" id="{22A3B336-562C-2584-77CB-3F9500D3C992}"/>
              </a:ext>
            </a:extLst>
          </p:cNvPr>
          <p:cNvSpPr txBox="1"/>
          <p:nvPr/>
        </p:nvSpPr>
        <p:spPr>
          <a:xfrm>
            <a:off x="436397" y="5512917"/>
            <a:ext cx="11056883" cy="646331"/>
          </a:xfrm>
          <a:prstGeom prst="rect">
            <a:avLst/>
          </a:prstGeom>
          <a:noFill/>
        </p:spPr>
        <p:txBody>
          <a:bodyPr wrap="square">
            <a:spAutoFit/>
          </a:bodyPr>
          <a:lstStyle/>
          <a:p>
            <a:r>
              <a:rPr lang="en-US" b="0" i="0" dirty="0">
                <a:solidFill>
                  <a:srgbClr val="636466"/>
                </a:solidFill>
                <a:effectLst/>
                <a:highlight>
                  <a:srgbClr val="FFFFFF"/>
                </a:highlight>
                <a:latin typeface="Open Sans" panose="020B0606030504020204" pitchFamily="34" charset="0"/>
              </a:rPr>
              <a:t>To simplify and balance the demands of your life requires that you keep your eye on the most important responsibilities that you are juggling.</a:t>
            </a:r>
            <a:endParaRPr lang="en-MX" dirty="0"/>
          </a:p>
        </p:txBody>
      </p:sp>
      <p:sp>
        <p:nvSpPr>
          <p:cNvPr id="13" name="Rectangle 12">
            <a:extLst>
              <a:ext uri="{FF2B5EF4-FFF2-40B4-BE49-F238E27FC236}">
                <a16:creationId xmlns:a16="http://schemas.microsoft.com/office/drawing/2014/main" id="{543436C8-EDA7-5974-024B-57D85F78F401}"/>
              </a:ext>
            </a:extLst>
          </p:cNvPr>
          <p:cNvSpPr/>
          <p:nvPr/>
        </p:nvSpPr>
        <p:spPr>
          <a:xfrm flipV="1">
            <a:off x="436397" y="5223241"/>
            <a:ext cx="11177534" cy="71635"/>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Tree>
    <p:extLst>
      <p:ext uri="{BB962C8B-B14F-4D97-AF65-F5344CB8AC3E}">
        <p14:creationId xmlns:p14="http://schemas.microsoft.com/office/powerpoint/2010/main" val="868320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FFE86-AFD2-1A8C-E8EF-F554910176AB}"/>
              </a:ext>
            </a:extLst>
          </p:cNvPr>
          <p:cNvSpPr>
            <a:spLocks noGrp="1"/>
          </p:cNvSpPr>
          <p:nvPr>
            <p:ph type="title"/>
          </p:nvPr>
        </p:nvSpPr>
        <p:spPr>
          <a:xfrm>
            <a:off x="2021106" y="2021312"/>
            <a:ext cx="8149787" cy="1325563"/>
          </a:xfrm>
        </p:spPr>
        <p:txBody>
          <a:bodyPr>
            <a:normAutofit/>
          </a:bodyPr>
          <a:lstStyle/>
          <a:p>
            <a:r>
              <a:rPr lang="en-MX" b="1" kern="1800" dirty="0">
                <a:solidFill>
                  <a:srgbClr val="000000"/>
                </a:solidFill>
                <a:effectLst/>
                <a:latin typeface="Arial" panose="020B0604020202020204" pitchFamily="34" charset="0"/>
                <a:ea typeface="Times New Roman" panose="02020603050405020304" pitchFamily="18" charset="0"/>
              </a:rPr>
              <a:t>W03 Application Activity: </a:t>
            </a:r>
            <a:br>
              <a:rPr lang="en-MX" b="1" kern="1800" dirty="0">
                <a:solidFill>
                  <a:srgbClr val="000000"/>
                </a:solidFill>
                <a:effectLst/>
                <a:latin typeface="Arial" panose="020B0604020202020204" pitchFamily="34" charset="0"/>
                <a:ea typeface="Times New Roman" panose="02020603050405020304" pitchFamily="18" charset="0"/>
              </a:rPr>
            </a:br>
            <a:r>
              <a:rPr lang="en-MX" b="1" kern="1800" dirty="0">
                <a:solidFill>
                  <a:srgbClr val="000000"/>
                </a:solidFill>
                <a:effectLst/>
                <a:latin typeface="Arial" panose="020B0604020202020204" pitchFamily="34" charset="0"/>
                <a:ea typeface="Times New Roman" panose="02020603050405020304" pitchFamily="18" charset="0"/>
              </a:rPr>
              <a:t>Introduction to Spreadsheets </a:t>
            </a:r>
            <a:endParaRPr lang="en-MX" dirty="0"/>
          </a:p>
        </p:txBody>
      </p:sp>
      <p:grpSp>
        <p:nvGrpSpPr>
          <p:cNvPr id="7" name="Group 6">
            <a:extLst>
              <a:ext uri="{FF2B5EF4-FFF2-40B4-BE49-F238E27FC236}">
                <a16:creationId xmlns:a16="http://schemas.microsoft.com/office/drawing/2014/main" id="{B89C58D7-7B02-6440-1DCF-3828F5332BD8}"/>
              </a:ext>
            </a:extLst>
          </p:cNvPr>
          <p:cNvGrpSpPr/>
          <p:nvPr/>
        </p:nvGrpSpPr>
        <p:grpSpPr>
          <a:xfrm>
            <a:off x="-24306" y="0"/>
            <a:ext cx="12216306" cy="6964636"/>
            <a:chOff x="-24306" y="0"/>
            <a:chExt cx="12216306" cy="6964636"/>
          </a:xfrm>
        </p:grpSpPr>
        <p:pic>
          <p:nvPicPr>
            <p:cNvPr id="8" name="Picture 7">
              <a:extLst>
                <a:ext uri="{FF2B5EF4-FFF2-40B4-BE49-F238E27FC236}">
                  <a16:creationId xmlns:a16="http://schemas.microsoft.com/office/drawing/2014/main" id="{3E61D66C-C713-0511-8C08-C9F3759FCB2C}"/>
                </a:ext>
              </a:extLst>
            </p:cNvPr>
            <p:cNvPicPr>
              <a:picLocks noChangeAspect="1"/>
            </p:cNvPicPr>
            <p:nvPr/>
          </p:nvPicPr>
          <p:blipFill>
            <a:blip r:embed="rId2"/>
            <a:stretch>
              <a:fillRect/>
            </a:stretch>
          </p:blipFill>
          <p:spPr>
            <a:xfrm>
              <a:off x="-24306" y="6367736"/>
              <a:ext cx="12216306" cy="596900"/>
            </a:xfrm>
            <a:prstGeom prst="rect">
              <a:avLst/>
            </a:prstGeom>
          </p:spPr>
        </p:pic>
        <p:grpSp>
          <p:nvGrpSpPr>
            <p:cNvPr id="9" name="Group 8">
              <a:extLst>
                <a:ext uri="{FF2B5EF4-FFF2-40B4-BE49-F238E27FC236}">
                  <a16:creationId xmlns:a16="http://schemas.microsoft.com/office/drawing/2014/main" id="{50D397DE-32B1-9E0C-094D-3756C17DA3B8}"/>
                </a:ext>
              </a:extLst>
            </p:cNvPr>
            <p:cNvGrpSpPr/>
            <p:nvPr/>
          </p:nvGrpSpPr>
          <p:grpSpPr>
            <a:xfrm>
              <a:off x="0" y="0"/>
              <a:ext cx="12192000" cy="1651577"/>
              <a:chOff x="0" y="0"/>
              <a:chExt cx="12192000" cy="1651577"/>
            </a:xfrm>
          </p:grpSpPr>
          <p:sp>
            <p:nvSpPr>
              <p:cNvPr id="10" name="Rectangle 9">
                <a:extLst>
                  <a:ext uri="{FF2B5EF4-FFF2-40B4-BE49-F238E27FC236}">
                    <a16:creationId xmlns:a16="http://schemas.microsoft.com/office/drawing/2014/main" id="{C3A1933B-3561-5CA0-2755-83AAB1A19756}"/>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1" name="Picture 10">
                <a:extLst>
                  <a:ext uri="{FF2B5EF4-FFF2-40B4-BE49-F238E27FC236}">
                    <a16:creationId xmlns:a16="http://schemas.microsoft.com/office/drawing/2014/main" id="{434C3F0D-304F-A161-BEFF-64B7ABEA0967}"/>
                  </a:ext>
                </a:extLst>
              </p:cNvPr>
              <p:cNvPicPr>
                <a:picLocks noChangeAspect="1"/>
              </p:cNvPicPr>
              <p:nvPr/>
            </p:nvPicPr>
            <p:blipFill>
              <a:blip r:embed="rId3"/>
              <a:stretch>
                <a:fillRect/>
              </a:stretch>
            </p:blipFill>
            <p:spPr>
              <a:xfrm>
                <a:off x="436398" y="0"/>
                <a:ext cx="2117616" cy="1651577"/>
              </a:xfrm>
              <a:prstGeom prst="rect">
                <a:avLst/>
              </a:prstGeom>
            </p:spPr>
          </p:pic>
        </p:grpSp>
      </p:grpSp>
    </p:spTree>
    <p:extLst>
      <p:ext uri="{BB962C8B-B14F-4D97-AF65-F5344CB8AC3E}">
        <p14:creationId xmlns:p14="http://schemas.microsoft.com/office/powerpoint/2010/main" val="2771021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1AEF2-1F67-F6E1-0D86-5E965A4DA6F4}"/>
              </a:ext>
            </a:extLst>
          </p:cNvPr>
          <p:cNvSpPr>
            <a:spLocks noGrp="1"/>
          </p:cNvSpPr>
          <p:nvPr>
            <p:ph type="title"/>
          </p:nvPr>
        </p:nvSpPr>
        <p:spPr>
          <a:xfrm>
            <a:off x="5181588" y="1064812"/>
            <a:ext cx="1828824" cy="920616"/>
          </a:xfrm>
        </p:spPr>
        <p:txBody>
          <a:bodyPr/>
          <a:lstStyle/>
          <a:p>
            <a:r>
              <a:rPr lang="en-MX" b="1" dirty="0"/>
              <a:t>Goals</a:t>
            </a:r>
          </a:p>
        </p:txBody>
      </p:sp>
      <p:grpSp>
        <p:nvGrpSpPr>
          <p:cNvPr id="9" name="Group 8">
            <a:extLst>
              <a:ext uri="{FF2B5EF4-FFF2-40B4-BE49-F238E27FC236}">
                <a16:creationId xmlns:a16="http://schemas.microsoft.com/office/drawing/2014/main" id="{6BC0ABCE-788D-A574-D831-23AF9C524ADC}"/>
              </a:ext>
            </a:extLst>
          </p:cNvPr>
          <p:cNvGrpSpPr/>
          <p:nvPr/>
        </p:nvGrpSpPr>
        <p:grpSpPr>
          <a:xfrm>
            <a:off x="-24306" y="0"/>
            <a:ext cx="12216306" cy="6964636"/>
            <a:chOff x="-24306" y="0"/>
            <a:chExt cx="12216306" cy="6964636"/>
          </a:xfrm>
        </p:grpSpPr>
        <p:pic>
          <p:nvPicPr>
            <p:cNvPr id="10" name="Picture 9">
              <a:extLst>
                <a:ext uri="{FF2B5EF4-FFF2-40B4-BE49-F238E27FC236}">
                  <a16:creationId xmlns:a16="http://schemas.microsoft.com/office/drawing/2014/main" id="{973155AC-5644-19F7-3124-06BBD0E2FBA8}"/>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EE2FBC8F-DB7D-9A8C-95D9-EA21C7EB86FB}"/>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BCD19AF2-0CF7-4716-3543-2CB1ABAE9C92}"/>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DE19F30A-C277-153E-9C95-38A1926F483D}"/>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15" name="TextBox 14">
            <a:extLst>
              <a:ext uri="{FF2B5EF4-FFF2-40B4-BE49-F238E27FC236}">
                <a16:creationId xmlns:a16="http://schemas.microsoft.com/office/drawing/2014/main" id="{B6494CDA-85B0-3C5E-1AE8-1C2CE6859531}"/>
              </a:ext>
            </a:extLst>
          </p:cNvPr>
          <p:cNvSpPr txBox="1"/>
          <p:nvPr/>
        </p:nvSpPr>
        <p:spPr>
          <a:xfrm>
            <a:off x="268012" y="1975804"/>
            <a:ext cx="11387958" cy="923330"/>
          </a:xfrm>
          <a:prstGeom prst="rect">
            <a:avLst/>
          </a:prstGeom>
          <a:noFill/>
        </p:spPr>
        <p:txBody>
          <a:bodyPr wrap="square">
            <a:spAutoFit/>
          </a:bodyPr>
          <a:lstStyle/>
          <a:p>
            <a:r>
              <a:rPr lang="en-US" b="0" i="0" dirty="0">
                <a:solidFill>
                  <a:srgbClr val="636466"/>
                </a:solidFill>
                <a:effectLst/>
                <a:highlight>
                  <a:srgbClr val="FFFFFF"/>
                </a:highlight>
                <a:latin typeface="Open Sans" panose="020B0606030504020204" pitchFamily="34" charset="0"/>
              </a:rPr>
              <a:t>     One way to be a good steward of your time is to set and achieve goals. Preach My Gospel states that “</a:t>
            </a:r>
            <a:r>
              <a:rPr lang="en-US" b="1" i="0" dirty="0">
                <a:solidFill>
                  <a:srgbClr val="636466"/>
                </a:solidFill>
                <a:effectLst/>
                <a:highlight>
                  <a:srgbClr val="FFFFFF"/>
                </a:highlight>
                <a:latin typeface="Open Sans" panose="020B0606030504020204" pitchFamily="34" charset="0"/>
              </a:rPr>
              <a:t>Goals reflect the desires of our hearts and our vision of what we can accomplish</a:t>
            </a:r>
            <a:r>
              <a:rPr lang="en-US" b="0" i="0" dirty="0">
                <a:solidFill>
                  <a:srgbClr val="636466"/>
                </a:solidFill>
                <a:effectLst/>
                <a:highlight>
                  <a:srgbClr val="FFFFFF"/>
                </a:highlight>
                <a:latin typeface="Open Sans" panose="020B0606030504020204" pitchFamily="34" charset="0"/>
              </a:rPr>
              <a:t>. Through goals and plans, our hopes are transformed into action”</a:t>
            </a:r>
            <a:endParaRPr lang="en-MX" dirty="0"/>
          </a:p>
        </p:txBody>
      </p:sp>
      <p:sp>
        <p:nvSpPr>
          <p:cNvPr id="17" name="TextBox 16">
            <a:extLst>
              <a:ext uri="{FF2B5EF4-FFF2-40B4-BE49-F238E27FC236}">
                <a16:creationId xmlns:a16="http://schemas.microsoft.com/office/drawing/2014/main" id="{7F625284-4AC3-CDB1-0F9A-E6C757FC2818}"/>
              </a:ext>
            </a:extLst>
          </p:cNvPr>
          <p:cNvSpPr txBox="1"/>
          <p:nvPr/>
        </p:nvSpPr>
        <p:spPr>
          <a:xfrm>
            <a:off x="4443247" y="3295237"/>
            <a:ext cx="3305505" cy="553998"/>
          </a:xfrm>
          <a:prstGeom prst="rect">
            <a:avLst/>
          </a:prstGeom>
          <a:noFill/>
        </p:spPr>
        <p:txBody>
          <a:bodyPr wrap="square">
            <a:spAutoFit/>
          </a:bodyPr>
          <a:lstStyle/>
          <a:p>
            <a:r>
              <a:rPr lang="en-US" sz="3000" b="1" i="0" dirty="0">
                <a:effectLst/>
                <a:highlight>
                  <a:srgbClr val="FFFFFF"/>
                </a:highlight>
                <a:latin typeface="Open Sans" panose="020B0606030504020204" pitchFamily="34" charset="0"/>
              </a:rPr>
              <a:t>Top-Level Goals</a:t>
            </a:r>
            <a:endParaRPr lang="en-MX" sz="3000" dirty="0"/>
          </a:p>
        </p:txBody>
      </p:sp>
      <p:sp>
        <p:nvSpPr>
          <p:cNvPr id="19" name="TextBox 18">
            <a:extLst>
              <a:ext uri="{FF2B5EF4-FFF2-40B4-BE49-F238E27FC236}">
                <a16:creationId xmlns:a16="http://schemas.microsoft.com/office/drawing/2014/main" id="{642019F0-48F1-8848-320E-6C1179E71FEB}"/>
              </a:ext>
            </a:extLst>
          </p:cNvPr>
          <p:cNvSpPr txBox="1"/>
          <p:nvPr/>
        </p:nvSpPr>
        <p:spPr>
          <a:xfrm>
            <a:off x="268012" y="3871408"/>
            <a:ext cx="11655973" cy="646331"/>
          </a:xfrm>
          <a:prstGeom prst="rect">
            <a:avLst/>
          </a:prstGeom>
          <a:noFill/>
        </p:spPr>
        <p:txBody>
          <a:bodyPr wrap="square">
            <a:spAutoFit/>
          </a:bodyPr>
          <a:lstStyle/>
          <a:p>
            <a:r>
              <a:rPr lang="en-US" b="0" i="0" dirty="0">
                <a:solidFill>
                  <a:srgbClr val="636466"/>
                </a:solidFill>
                <a:effectLst/>
                <a:highlight>
                  <a:srgbClr val="FFFFFF"/>
                </a:highlight>
                <a:latin typeface="Open Sans" panose="020B0606030504020204" pitchFamily="34" charset="0"/>
              </a:rPr>
              <a:t>Top level goals are the </a:t>
            </a:r>
            <a:r>
              <a:rPr lang="en-US" b="1" i="0" dirty="0">
                <a:solidFill>
                  <a:srgbClr val="636466"/>
                </a:solidFill>
                <a:effectLst/>
                <a:highlight>
                  <a:srgbClr val="FFFFFF"/>
                </a:highlight>
                <a:latin typeface="Open Sans" panose="020B0606030504020204" pitchFamily="34" charset="0"/>
              </a:rPr>
              <a:t>things you care about the most</a:t>
            </a:r>
            <a:r>
              <a:rPr lang="en-US" b="0" i="0" dirty="0">
                <a:solidFill>
                  <a:srgbClr val="636466"/>
                </a:solidFill>
                <a:effectLst/>
                <a:highlight>
                  <a:srgbClr val="FFFFFF"/>
                </a:highlight>
                <a:latin typeface="Open Sans" panose="020B0606030504020204" pitchFamily="34" charset="0"/>
              </a:rPr>
              <a:t>. These goals </a:t>
            </a:r>
            <a:r>
              <a:rPr lang="en-US" b="1" i="0" dirty="0">
                <a:solidFill>
                  <a:srgbClr val="636466"/>
                </a:solidFill>
                <a:effectLst/>
                <a:highlight>
                  <a:srgbClr val="FFFFFF"/>
                </a:highlight>
                <a:latin typeface="Open Sans" panose="020B0606030504020204" pitchFamily="34" charset="0"/>
              </a:rPr>
              <a:t>give meaning and purpose to your life.</a:t>
            </a:r>
            <a:endParaRPr lang="en-MX" b="1" dirty="0"/>
          </a:p>
        </p:txBody>
      </p:sp>
      <p:sp>
        <p:nvSpPr>
          <p:cNvPr id="21" name="TextBox 20">
            <a:extLst>
              <a:ext uri="{FF2B5EF4-FFF2-40B4-BE49-F238E27FC236}">
                <a16:creationId xmlns:a16="http://schemas.microsoft.com/office/drawing/2014/main" id="{014B0921-E084-D8FB-DB2B-06B97F92C22A}"/>
              </a:ext>
            </a:extLst>
          </p:cNvPr>
          <p:cNvSpPr txBox="1"/>
          <p:nvPr/>
        </p:nvSpPr>
        <p:spPr>
          <a:xfrm>
            <a:off x="261935" y="4533413"/>
            <a:ext cx="11643823" cy="923330"/>
          </a:xfrm>
          <a:prstGeom prst="rect">
            <a:avLst/>
          </a:prstGeom>
          <a:noFill/>
        </p:spPr>
        <p:txBody>
          <a:bodyPr wrap="square">
            <a:spAutoFit/>
          </a:bodyPr>
          <a:lstStyle/>
          <a:p>
            <a:r>
              <a:rPr lang="en-US" b="0" i="0" dirty="0">
                <a:solidFill>
                  <a:srgbClr val="636466"/>
                </a:solidFill>
                <a:effectLst/>
                <a:highlight>
                  <a:srgbClr val="FFFFFF"/>
                </a:highlight>
                <a:latin typeface="Open Sans" panose="020B0606030504020204" pitchFamily="34" charset="0"/>
              </a:rPr>
              <a:t>Figuring out your top-level goal can be difficult. To help with this, think about your highest professional goal. What do you want to do for work? What do you enjoy so much that you would be willing to invest thousands of hours practicing? The answers to these questions are your top level goals.</a:t>
            </a:r>
            <a:endParaRPr lang="en-MX" dirty="0"/>
          </a:p>
        </p:txBody>
      </p:sp>
      <p:sp>
        <p:nvSpPr>
          <p:cNvPr id="24" name="Rectangle 23">
            <a:extLst>
              <a:ext uri="{FF2B5EF4-FFF2-40B4-BE49-F238E27FC236}">
                <a16:creationId xmlns:a16="http://schemas.microsoft.com/office/drawing/2014/main" id="{C15EF650-EA45-EF28-93FD-12F90FB0D84A}"/>
              </a:ext>
            </a:extLst>
          </p:cNvPr>
          <p:cNvSpPr/>
          <p:nvPr/>
        </p:nvSpPr>
        <p:spPr>
          <a:xfrm>
            <a:off x="467817" y="3036413"/>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25" name="TextBox 24">
            <a:extLst>
              <a:ext uri="{FF2B5EF4-FFF2-40B4-BE49-F238E27FC236}">
                <a16:creationId xmlns:a16="http://schemas.microsoft.com/office/drawing/2014/main" id="{C9D1567C-EAEA-CB85-4489-75AC817FC2E8}"/>
              </a:ext>
            </a:extLst>
          </p:cNvPr>
          <p:cNvSpPr txBox="1"/>
          <p:nvPr/>
        </p:nvSpPr>
        <p:spPr>
          <a:xfrm>
            <a:off x="1757145" y="5599255"/>
            <a:ext cx="8409689" cy="523220"/>
          </a:xfrm>
          <a:prstGeom prst="rect">
            <a:avLst/>
          </a:prstGeom>
          <a:noFill/>
        </p:spPr>
        <p:txBody>
          <a:bodyPr wrap="square">
            <a:spAutoFit/>
          </a:bodyPr>
          <a:lstStyle/>
          <a:p>
            <a:pPr lvl="0" fontAlgn="base">
              <a:buSzPts val="1000"/>
              <a:tabLst>
                <a:tab pos="457200" algn="l"/>
              </a:tabLst>
            </a:pPr>
            <a:r>
              <a:rPr lang="en-MX" sz="2800" b="1" dirty="0">
                <a:solidFill>
                  <a:srgbClr val="636466"/>
                </a:solidFill>
                <a:highlight>
                  <a:srgbClr val="FFFFFF"/>
                </a:highlight>
                <a:latin typeface="Open Sans" panose="020B0606030504020204" pitchFamily="34" charset="0"/>
              </a:rPr>
              <a:t>What are some examples of “top-level” goals?</a:t>
            </a:r>
          </a:p>
        </p:txBody>
      </p:sp>
    </p:spTree>
    <p:extLst>
      <p:ext uri="{BB962C8B-B14F-4D97-AF65-F5344CB8AC3E}">
        <p14:creationId xmlns:p14="http://schemas.microsoft.com/office/powerpoint/2010/main" val="927740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BC0ABCE-788D-A574-D831-23AF9C524ADC}"/>
              </a:ext>
            </a:extLst>
          </p:cNvPr>
          <p:cNvGrpSpPr/>
          <p:nvPr/>
        </p:nvGrpSpPr>
        <p:grpSpPr>
          <a:xfrm>
            <a:off x="-24306" y="0"/>
            <a:ext cx="12216306" cy="6964636"/>
            <a:chOff x="-24306" y="0"/>
            <a:chExt cx="12216306" cy="6964636"/>
          </a:xfrm>
        </p:grpSpPr>
        <p:pic>
          <p:nvPicPr>
            <p:cNvPr id="10" name="Picture 9">
              <a:extLst>
                <a:ext uri="{FF2B5EF4-FFF2-40B4-BE49-F238E27FC236}">
                  <a16:creationId xmlns:a16="http://schemas.microsoft.com/office/drawing/2014/main" id="{973155AC-5644-19F7-3124-06BBD0E2FBA8}"/>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EE2FBC8F-DB7D-9A8C-95D9-EA21C7EB86FB}"/>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BCD19AF2-0CF7-4716-3543-2CB1ABAE9C92}"/>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DE19F30A-C277-153E-9C95-38A1926F483D}"/>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17" name="TextBox 16">
            <a:extLst>
              <a:ext uri="{FF2B5EF4-FFF2-40B4-BE49-F238E27FC236}">
                <a16:creationId xmlns:a16="http://schemas.microsoft.com/office/drawing/2014/main" id="{7F625284-4AC3-CDB1-0F9A-E6C757FC2818}"/>
              </a:ext>
            </a:extLst>
          </p:cNvPr>
          <p:cNvSpPr txBox="1"/>
          <p:nvPr/>
        </p:nvSpPr>
        <p:spPr>
          <a:xfrm>
            <a:off x="3475474" y="1219615"/>
            <a:ext cx="4688435" cy="769441"/>
          </a:xfrm>
          <a:prstGeom prst="rect">
            <a:avLst/>
          </a:prstGeom>
          <a:noFill/>
        </p:spPr>
        <p:txBody>
          <a:bodyPr wrap="square">
            <a:spAutoFit/>
          </a:bodyPr>
          <a:lstStyle/>
          <a:p>
            <a:r>
              <a:rPr lang="en-US" sz="4400" b="1" i="0" dirty="0">
                <a:effectLst/>
                <a:highlight>
                  <a:srgbClr val="FFFFFF"/>
                </a:highlight>
                <a:latin typeface="Open Sans" panose="020B0606030504020204" pitchFamily="34" charset="0"/>
              </a:rPr>
              <a:t>Top-Level Goals</a:t>
            </a:r>
            <a:endParaRPr lang="en-MX" sz="4400" dirty="0"/>
          </a:p>
        </p:txBody>
      </p:sp>
      <p:sp>
        <p:nvSpPr>
          <p:cNvPr id="23" name="TextBox 22">
            <a:extLst>
              <a:ext uri="{FF2B5EF4-FFF2-40B4-BE49-F238E27FC236}">
                <a16:creationId xmlns:a16="http://schemas.microsoft.com/office/drawing/2014/main" id="{D345D6F7-C9E6-087F-9644-0E0BB5F2CCE1}"/>
              </a:ext>
            </a:extLst>
          </p:cNvPr>
          <p:cNvSpPr txBox="1"/>
          <p:nvPr/>
        </p:nvSpPr>
        <p:spPr>
          <a:xfrm>
            <a:off x="2058615" y="2408755"/>
            <a:ext cx="8409689" cy="523220"/>
          </a:xfrm>
          <a:prstGeom prst="rect">
            <a:avLst/>
          </a:prstGeom>
          <a:noFill/>
        </p:spPr>
        <p:txBody>
          <a:bodyPr wrap="square">
            <a:spAutoFit/>
          </a:bodyPr>
          <a:lstStyle/>
          <a:p>
            <a:pPr lvl="0" fontAlgn="base">
              <a:buSzPts val="1000"/>
              <a:tabLst>
                <a:tab pos="457200" algn="l"/>
              </a:tabLst>
            </a:pPr>
            <a:r>
              <a:rPr lang="en-MX" sz="2800" b="1" dirty="0">
                <a:solidFill>
                  <a:srgbClr val="636466"/>
                </a:solidFill>
                <a:highlight>
                  <a:srgbClr val="FFFFFF"/>
                </a:highlight>
                <a:latin typeface="Open Sans" panose="020B0606030504020204" pitchFamily="34" charset="0"/>
              </a:rPr>
              <a:t>What are some examples of “top-level” goals?</a:t>
            </a:r>
          </a:p>
        </p:txBody>
      </p:sp>
      <p:sp>
        <p:nvSpPr>
          <p:cNvPr id="24" name="Rectangle 23">
            <a:extLst>
              <a:ext uri="{FF2B5EF4-FFF2-40B4-BE49-F238E27FC236}">
                <a16:creationId xmlns:a16="http://schemas.microsoft.com/office/drawing/2014/main" id="{C15EF650-EA45-EF28-93FD-12F90FB0D84A}"/>
              </a:ext>
            </a:extLst>
          </p:cNvPr>
          <p:cNvSpPr/>
          <p:nvPr/>
        </p:nvSpPr>
        <p:spPr>
          <a:xfrm>
            <a:off x="589672" y="2030711"/>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5" name="TextBox 4">
            <a:extLst>
              <a:ext uri="{FF2B5EF4-FFF2-40B4-BE49-F238E27FC236}">
                <a16:creationId xmlns:a16="http://schemas.microsoft.com/office/drawing/2014/main" id="{71BD60A9-1D11-3DC8-181A-AE9F712AE092}"/>
              </a:ext>
            </a:extLst>
          </p:cNvPr>
          <p:cNvSpPr txBox="1"/>
          <p:nvPr/>
        </p:nvSpPr>
        <p:spPr>
          <a:xfrm>
            <a:off x="6083845" y="4638509"/>
            <a:ext cx="4479052" cy="477054"/>
          </a:xfrm>
          <a:prstGeom prst="rect">
            <a:avLst/>
          </a:prstGeom>
          <a:noFill/>
        </p:spPr>
        <p:txBody>
          <a:bodyPr wrap="square">
            <a:spAutoFit/>
          </a:bodyPr>
          <a:lstStyle/>
          <a:p>
            <a:pPr marL="457200" indent="-457200">
              <a:buFont typeface="Arial" panose="020B0604020202020204" pitchFamily="34" charset="0"/>
              <a:buChar char="•"/>
            </a:pPr>
            <a:r>
              <a:rPr lang="en-US" sz="2500" dirty="0">
                <a:highlight>
                  <a:srgbClr val="FFFFFF"/>
                </a:highlight>
                <a:latin typeface="Open Sans" panose="020B0606030504020204" pitchFamily="34" charset="0"/>
              </a:rPr>
              <a:t>Being a great parent</a:t>
            </a:r>
            <a:endParaRPr lang="en-MX" sz="2500" b="1" dirty="0"/>
          </a:p>
        </p:txBody>
      </p:sp>
      <p:sp>
        <p:nvSpPr>
          <p:cNvPr id="6" name="TextBox 5">
            <a:extLst>
              <a:ext uri="{FF2B5EF4-FFF2-40B4-BE49-F238E27FC236}">
                <a16:creationId xmlns:a16="http://schemas.microsoft.com/office/drawing/2014/main" id="{E40DC842-D928-0158-DDCF-171193914B20}"/>
              </a:ext>
            </a:extLst>
          </p:cNvPr>
          <p:cNvSpPr txBox="1"/>
          <p:nvPr/>
        </p:nvSpPr>
        <p:spPr>
          <a:xfrm>
            <a:off x="760355" y="4638509"/>
            <a:ext cx="5430238" cy="477054"/>
          </a:xfrm>
          <a:prstGeom prst="rect">
            <a:avLst/>
          </a:prstGeom>
          <a:noFill/>
        </p:spPr>
        <p:txBody>
          <a:bodyPr wrap="square">
            <a:spAutoFit/>
          </a:bodyPr>
          <a:lstStyle/>
          <a:p>
            <a:pPr marL="285750" indent="-285750">
              <a:buFont typeface="Arial" panose="020B0604020202020204" pitchFamily="34" charset="0"/>
              <a:buChar char="•"/>
            </a:pPr>
            <a:r>
              <a:rPr lang="en-US" sz="2500" dirty="0">
                <a:highlight>
                  <a:srgbClr val="FFFFFF"/>
                </a:highlight>
                <a:latin typeface="Open Sans" panose="020B0606030504020204" pitchFamily="34" charset="0"/>
              </a:rPr>
              <a:t>Becoming a school teacher</a:t>
            </a:r>
            <a:endParaRPr lang="en-MX" sz="2500" b="1" dirty="0"/>
          </a:p>
        </p:txBody>
      </p:sp>
      <p:sp>
        <p:nvSpPr>
          <p:cNvPr id="8" name="TextBox 7">
            <a:extLst>
              <a:ext uri="{FF2B5EF4-FFF2-40B4-BE49-F238E27FC236}">
                <a16:creationId xmlns:a16="http://schemas.microsoft.com/office/drawing/2014/main" id="{63012701-F84B-9FCD-419B-53FF928E833E}"/>
              </a:ext>
            </a:extLst>
          </p:cNvPr>
          <p:cNvSpPr txBox="1"/>
          <p:nvPr/>
        </p:nvSpPr>
        <p:spPr>
          <a:xfrm>
            <a:off x="683171" y="3199693"/>
            <a:ext cx="10894847" cy="1200329"/>
          </a:xfrm>
          <a:prstGeom prst="rect">
            <a:avLst/>
          </a:prstGeom>
          <a:noFill/>
        </p:spPr>
        <p:txBody>
          <a:bodyPr wrap="square">
            <a:spAutoFit/>
          </a:bodyPr>
          <a:lstStyle/>
          <a:p>
            <a:r>
              <a:rPr lang="en-US" b="0" i="0" dirty="0">
                <a:solidFill>
                  <a:srgbClr val="636466"/>
                </a:solidFill>
                <a:effectLst/>
                <a:highlight>
                  <a:srgbClr val="FFFFFF"/>
                </a:highlight>
                <a:latin typeface="Open Sans" panose="020B0606030504020204" pitchFamily="34" charset="0"/>
              </a:rPr>
              <a:t>Figuring out your top-level goal can be difficult. To help with this, think about </a:t>
            </a:r>
            <a:r>
              <a:rPr lang="en-US" b="1" i="0" dirty="0">
                <a:solidFill>
                  <a:srgbClr val="636466"/>
                </a:solidFill>
                <a:effectLst/>
                <a:highlight>
                  <a:srgbClr val="FFFFFF"/>
                </a:highlight>
                <a:latin typeface="Open Sans" panose="020B0606030504020204" pitchFamily="34" charset="0"/>
              </a:rPr>
              <a:t>your highest professional goal</a:t>
            </a:r>
            <a:r>
              <a:rPr lang="en-US" b="0" i="0" dirty="0">
                <a:solidFill>
                  <a:srgbClr val="636466"/>
                </a:solidFill>
                <a:effectLst/>
                <a:highlight>
                  <a:srgbClr val="FFFFFF"/>
                </a:highlight>
                <a:latin typeface="Open Sans" panose="020B0606030504020204" pitchFamily="34" charset="0"/>
              </a:rPr>
              <a:t>. What do you </a:t>
            </a:r>
            <a:r>
              <a:rPr lang="en-US" b="1" i="0" dirty="0">
                <a:solidFill>
                  <a:srgbClr val="636466"/>
                </a:solidFill>
                <a:effectLst/>
                <a:highlight>
                  <a:srgbClr val="FFFFFF"/>
                </a:highlight>
                <a:latin typeface="Open Sans" panose="020B0606030504020204" pitchFamily="34" charset="0"/>
              </a:rPr>
              <a:t>want to do for work</a:t>
            </a:r>
            <a:r>
              <a:rPr lang="en-US" b="0" i="0" dirty="0">
                <a:solidFill>
                  <a:srgbClr val="636466"/>
                </a:solidFill>
                <a:effectLst/>
                <a:highlight>
                  <a:srgbClr val="FFFFFF"/>
                </a:highlight>
                <a:latin typeface="Open Sans" panose="020B0606030504020204" pitchFamily="34" charset="0"/>
              </a:rPr>
              <a:t>? What do you </a:t>
            </a:r>
            <a:r>
              <a:rPr lang="en-US" b="1" i="0" dirty="0">
                <a:solidFill>
                  <a:srgbClr val="636466"/>
                </a:solidFill>
                <a:effectLst/>
                <a:highlight>
                  <a:srgbClr val="FFFFFF"/>
                </a:highlight>
                <a:latin typeface="Open Sans" panose="020B0606030504020204" pitchFamily="34" charset="0"/>
              </a:rPr>
              <a:t>enjoy so much</a:t>
            </a:r>
            <a:r>
              <a:rPr lang="en-US" b="0" i="0" dirty="0">
                <a:solidFill>
                  <a:srgbClr val="636466"/>
                </a:solidFill>
                <a:effectLst/>
                <a:highlight>
                  <a:srgbClr val="FFFFFF"/>
                </a:highlight>
                <a:latin typeface="Open Sans" panose="020B0606030504020204" pitchFamily="34" charset="0"/>
              </a:rPr>
              <a:t> that you would be willing to invest thousands of hours practicing? The answers to these questions are your top level goals.</a:t>
            </a:r>
            <a:endParaRPr lang="en-MX" dirty="0"/>
          </a:p>
        </p:txBody>
      </p:sp>
      <p:sp>
        <p:nvSpPr>
          <p:cNvPr id="16" name="TextBox 15">
            <a:extLst>
              <a:ext uri="{FF2B5EF4-FFF2-40B4-BE49-F238E27FC236}">
                <a16:creationId xmlns:a16="http://schemas.microsoft.com/office/drawing/2014/main" id="{ECE87129-2168-FD8F-F7FE-2B529CE8572F}"/>
              </a:ext>
            </a:extLst>
          </p:cNvPr>
          <p:cNvSpPr txBox="1"/>
          <p:nvPr/>
        </p:nvSpPr>
        <p:spPr>
          <a:xfrm>
            <a:off x="3475474" y="5420178"/>
            <a:ext cx="4688435" cy="477054"/>
          </a:xfrm>
          <a:prstGeom prst="rect">
            <a:avLst/>
          </a:prstGeom>
          <a:noFill/>
        </p:spPr>
        <p:txBody>
          <a:bodyPr wrap="square">
            <a:spAutoFit/>
          </a:bodyPr>
          <a:lstStyle/>
          <a:p>
            <a:pPr marL="342900" indent="-342900">
              <a:buFont typeface="Arial" panose="020B0604020202020204" pitchFamily="34" charset="0"/>
              <a:buChar char="•"/>
            </a:pPr>
            <a:r>
              <a:rPr lang="en-US" sz="2500" dirty="0">
                <a:highlight>
                  <a:srgbClr val="FFFFFF"/>
                </a:highlight>
                <a:latin typeface="Open Sans" panose="020B0606030504020204" pitchFamily="34" charset="0"/>
              </a:rPr>
              <a:t>Eternal marriage and family</a:t>
            </a:r>
            <a:endParaRPr lang="en-MX" sz="2500" dirty="0">
              <a:highlight>
                <a:srgbClr val="FFFFFF"/>
              </a:highlight>
              <a:latin typeface="Open Sans" panose="020B0606030504020204" pitchFamily="34" charset="0"/>
            </a:endParaRPr>
          </a:p>
        </p:txBody>
      </p:sp>
    </p:spTree>
    <p:extLst>
      <p:ext uri="{BB962C8B-B14F-4D97-AF65-F5344CB8AC3E}">
        <p14:creationId xmlns:p14="http://schemas.microsoft.com/office/powerpoint/2010/main" val="220060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BC0ABCE-788D-A574-D831-23AF9C524ADC}"/>
              </a:ext>
            </a:extLst>
          </p:cNvPr>
          <p:cNvGrpSpPr/>
          <p:nvPr/>
        </p:nvGrpSpPr>
        <p:grpSpPr>
          <a:xfrm>
            <a:off x="-24306" y="0"/>
            <a:ext cx="12216306" cy="6964636"/>
            <a:chOff x="-24306" y="0"/>
            <a:chExt cx="12216306" cy="6964636"/>
          </a:xfrm>
        </p:grpSpPr>
        <p:pic>
          <p:nvPicPr>
            <p:cNvPr id="10" name="Picture 9">
              <a:extLst>
                <a:ext uri="{FF2B5EF4-FFF2-40B4-BE49-F238E27FC236}">
                  <a16:creationId xmlns:a16="http://schemas.microsoft.com/office/drawing/2014/main" id="{973155AC-5644-19F7-3124-06BBD0E2FBA8}"/>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EE2FBC8F-DB7D-9A8C-95D9-EA21C7EB86FB}"/>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BCD19AF2-0CF7-4716-3543-2CB1ABAE9C92}"/>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DE19F30A-C277-153E-9C95-38A1926F483D}"/>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3" name="TextBox 22">
            <a:extLst>
              <a:ext uri="{FF2B5EF4-FFF2-40B4-BE49-F238E27FC236}">
                <a16:creationId xmlns:a16="http://schemas.microsoft.com/office/drawing/2014/main" id="{D345D6F7-C9E6-087F-9644-0E0BB5F2CCE1}"/>
              </a:ext>
            </a:extLst>
          </p:cNvPr>
          <p:cNvSpPr txBox="1"/>
          <p:nvPr/>
        </p:nvSpPr>
        <p:spPr>
          <a:xfrm>
            <a:off x="546539" y="4017412"/>
            <a:ext cx="11645461" cy="954107"/>
          </a:xfrm>
          <a:prstGeom prst="rect">
            <a:avLst/>
          </a:prstGeom>
          <a:noFill/>
        </p:spPr>
        <p:txBody>
          <a:bodyPr wrap="square">
            <a:spAutoFit/>
          </a:bodyPr>
          <a:lstStyle/>
          <a:p>
            <a:pPr lvl="0" fontAlgn="base">
              <a:buSzPts val="1000"/>
              <a:tabLst>
                <a:tab pos="457200" algn="l"/>
              </a:tabLst>
            </a:pPr>
            <a:r>
              <a:rPr lang="en-MX" sz="2800" b="1" dirty="0">
                <a:solidFill>
                  <a:srgbClr val="636466"/>
                </a:solidFill>
                <a:highlight>
                  <a:srgbClr val="FFFFFF"/>
                </a:highlight>
                <a:latin typeface="Open Sans" panose="020B0606030504020204" pitchFamily="34" charset="0"/>
              </a:rPr>
              <a:t>What are some lower-level goals you could set in order to achieve some of these “top-level” goals?</a:t>
            </a:r>
          </a:p>
        </p:txBody>
      </p:sp>
      <p:sp>
        <p:nvSpPr>
          <p:cNvPr id="24" name="Rectangle 23">
            <a:extLst>
              <a:ext uri="{FF2B5EF4-FFF2-40B4-BE49-F238E27FC236}">
                <a16:creationId xmlns:a16="http://schemas.microsoft.com/office/drawing/2014/main" id="{C15EF650-EA45-EF28-93FD-12F90FB0D84A}"/>
              </a:ext>
            </a:extLst>
          </p:cNvPr>
          <p:cNvSpPr/>
          <p:nvPr/>
        </p:nvSpPr>
        <p:spPr>
          <a:xfrm>
            <a:off x="546538" y="3693414"/>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 name="TextBox 3">
            <a:extLst>
              <a:ext uri="{FF2B5EF4-FFF2-40B4-BE49-F238E27FC236}">
                <a16:creationId xmlns:a16="http://schemas.microsoft.com/office/drawing/2014/main" id="{B0EA1CD7-BED2-1FE4-0576-AB73A3EF6C0B}"/>
              </a:ext>
            </a:extLst>
          </p:cNvPr>
          <p:cNvSpPr txBox="1"/>
          <p:nvPr/>
        </p:nvSpPr>
        <p:spPr>
          <a:xfrm>
            <a:off x="2927129" y="1174070"/>
            <a:ext cx="6884277" cy="769441"/>
          </a:xfrm>
          <a:prstGeom prst="rect">
            <a:avLst/>
          </a:prstGeom>
          <a:noFill/>
        </p:spPr>
        <p:txBody>
          <a:bodyPr wrap="square">
            <a:spAutoFit/>
          </a:bodyPr>
          <a:lstStyle/>
          <a:p>
            <a:r>
              <a:rPr lang="en-US" sz="4400" b="1" dirty="0">
                <a:latin typeface="+mj-lt"/>
                <a:ea typeface="+mj-ea"/>
                <a:cs typeface="+mj-cs"/>
              </a:rPr>
              <a:t>Mid and Lower-Level Goals</a:t>
            </a:r>
            <a:endParaRPr lang="en-MX" sz="4400" b="1" dirty="0">
              <a:latin typeface="+mj-lt"/>
              <a:ea typeface="+mj-ea"/>
              <a:cs typeface="+mj-cs"/>
            </a:endParaRPr>
          </a:p>
        </p:txBody>
      </p:sp>
      <p:sp>
        <p:nvSpPr>
          <p:cNvPr id="8" name="TextBox 7">
            <a:extLst>
              <a:ext uri="{FF2B5EF4-FFF2-40B4-BE49-F238E27FC236}">
                <a16:creationId xmlns:a16="http://schemas.microsoft.com/office/drawing/2014/main" id="{6E2E3D54-493F-AF2E-5DA3-3DF5ABEA6EBA}"/>
              </a:ext>
            </a:extLst>
          </p:cNvPr>
          <p:cNvSpPr txBox="1"/>
          <p:nvPr/>
        </p:nvSpPr>
        <p:spPr>
          <a:xfrm>
            <a:off x="436397" y="2026129"/>
            <a:ext cx="10315685" cy="369332"/>
          </a:xfrm>
          <a:prstGeom prst="rect">
            <a:avLst/>
          </a:prstGeom>
          <a:noFill/>
        </p:spPr>
        <p:txBody>
          <a:bodyPr wrap="square">
            <a:spAutoFit/>
          </a:bodyPr>
          <a:lstStyle/>
          <a:p>
            <a:r>
              <a:rPr lang="en-US" b="1" dirty="0">
                <a:solidFill>
                  <a:srgbClr val="636466"/>
                </a:solidFill>
                <a:highlight>
                  <a:srgbClr val="FFFFFF"/>
                </a:highlight>
                <a:latin typeface="Open Sans" panose="020B0606030504020204" pitchFamily="34" charset="0"/>
              </a:rPr>
              <a:t>   Mid-level goals support your top-level goals </a:t>
            </a:r>
            <a:r>
              <a:rPr lang="en-US" dirty="0">
                <a:solidFill>
                  <a:srgbClr val="636466"/>
                </a:solidFill>
                <a:highlight>
                  <a:srgbClr val="FFFFFF"/>
                </a:highlight>
                <a:latin typeface="Open Sans" panose="020B0606030504020204" pitchFamily="34" charset="0"/>
              </a:rPr>
              <a:t>by breaking them down into major themes. </a:t>
            </a:r>
            <a:endParaRPr lang="en-MX" dirty="0">
              <a:solidFill>
                <a:srgbClr val="636466"/>
              </a:solidFill>
              <a:highlight>
                <a:srgbClr val="FFFFFF"/>
              </a:highlight>
              <a:latin typeface="Open Sans" panose="020B0606030504020204" pitchFamily="34" charset="0"/>
            </a:endParaRPr>
          </a:p>
        </p:txBody>
      </p:sp>
      <p:sp>
        <p:nvSpPr>
          <p:cNvPr id="16" name="TextBox 15">
            <a:extLst>
              <a:ext uri="{FF2B5EF4-FFF2-40B4-BE49-F238E27FC236}">
                <a16:creationId xmlns:a16="http://schemas.microsoft.com/office/drawing/2014/main" id="{3A33E66D-3253-3830-CF02-7447D041375B}"/>
              </a:ext>
            </a:extLst>
          </p:cNvPr>
          <p:cNvSpPr txBox="1"/>
          <p:nvPr/>
        </p:nvSpPr>
        <p:spPr>
          <a:xfrm>
            <a:off x="436396" y="2479958"/>
            <a:ext cx="11272127" cy="923330"/>
          </a:xfrm>
          <a:prstGeom prst="rect">
            <a:avLst/>
          </a:prstGeom>
          <a:noFill/>
        </p:spPr>
        <p:txBody>
          <a:bodyPr wrap="square">
            <a:spAutoFit/>
          </a:bodyPr>
          <a:lstStyle/>
          <a:p>
            <a:r>
              <a:rPr lang="en-US" dirty="0">
                <a:solidFill>
                  <a:srgbClr val="636466"/>
                </a:solidFill>
                <a:highlight>
                  <a:srgbClr val="FFFFFF"/>
                </a:highlight>
                <a:latin typeface="Open Sans" panose="020B0606030504020204" pitchFamily="34" charset="0"/>
              </a:rPr>
              <a:t>Top level goals are more general, but </a:t>
            </a:r>
            <a:r>
              <a:rPr lang="en-US" b="1" dirty="0">
                <a:solidFill>
                  <a:srgbClr val="636466"/>
                </a:solidFill>
                <a:highlight>
                  <a:srgbClr val="FFFFFF"/>
                </a:highlight>
                <a:latin typeface="Open Sans" panose="020B0606030504020204" pitchFamily="34" charset="0"/>
              </a:rPr>
              <a:t>smaller goals are more specific</a:t>
            </a:r>
            <a:r>
              <a:rPr lang="en-US" dirty="0">
                <a:solidFill>
                  <a:srgbClr val="636466"/>
                </a:solidFill>
                <a:highlight>
                  <a:srgbClr val="FFFFFF"/>
                </a:highlight>
                <a:latin typeface="Open Sans" panose="020B0606030504020204" pitchFamily="34" charset="0"/>
              </a:rPr>
              <a:t>. Lower-level goals are even more specific and tend to be linked to certain </a:t>
            </a:r>
            <a:r>
              <a:rPr lang="en-US" b="1" dirty="0">
                <a:solidFill>
                  <a:srgbClr val="636466"/>
                </a:solidFill>
                <a:highlight>
                  <a:srgbClr val="FFFFFF"/>
                </a:highlight>
                <a:latin typeface="Open Sans" panose="020B0606030504020204" pitchFamily="34" charset="0"/>
              </a:rPr>
              <a:t>everyday tasks. </a:t>
            </a:r>
            <a:r>
              <a:rPr lang="en-US" b="0" i="0" dirty="0">
                <a:solidFill>
                  <a:srgbClr val="636466"/>
                </a:solidFill>
                <a:effectLst/>
                <a:highlight>
                  <a:srgbClr val="FFFFFF"/>
                </a:highlight>
                <a:latin typeface="Open Sans" panose="020B0606030504020204" pitchFamily="34" charset="0"/>
              </a:rPr>
              <a:t>It is through these tasks that the larger mid and top-level goals can be met.</a:t>
            </a:r>
            <a:endParaRPr lang="en-MX" b="1" dirty="0">
              <a:solidFill>
                <a:srgbClr val="636466"/>
              </a:solidFill>
              <a:highlight>
                <a:srgbClr val="FFFFFF"/>
              </a:highlight>
              <a:latin typeface="Open Sans" panose="020B0606030504020204" pitchFamily="34" charset="0"/>
            </a:endParaRPr>
          </a:p>
        </p:txBody>
      </p:sp>
      <p:sp>
        <p:nvSpPr>
          <p:cNvPr id="20" name="TextBox 19">
            <a:extLst>
              <a:ext uri="{FF2B5EF4-FFF2-40B4-BE49-F238E27FC236}">
                <a16:creationId xmlns:a16="http://schemas.microsoft.com/office/drawing/2014/main" id="{C7BF08F0-94B8-4737-6865-46643F2E9A1A}"/>
              </a:ext>
            </a:extLst>
          </p:cNvPr>
          <p:cNvSpPr txBox="1"/>
          <p:nvPr/>
        </p:nvSpPr>
        <p:spPr>
          <a:xfrm>
            <a:off x="436396" y="5308566"/>
            <a:ext cx="3438528" cy="477054"/>
          </a:xfrm>
          <a:prstGeom prst="rect">
            <a:avLst/>
          </a:prstGeom>
          <a:noFill/>
        </p:spPr>
        <p:txBody>
          <a:bodyPr wrap="square">
            <a:spAutoFit/>
          </a:bodyPr>
          <a:lstStyle/>
          <a:p>
            <a:pPr marL="342900" indent="-342900" algn="l">
              <a:buFont typeface="Arial" panose="020B0604020202020204" pitchFamily="34" charset="0"/>
              <a:buChar char="•"/>
            </a:pPr>
            <a:r>
              <a:rPr lang="en-US" sz="2500" dirty="0">
                <a:highlight>
                  <a:srgbClr val="FFFFFF"/>
                </a:highlight>
                <a:latin typeface="Open Sans" panose="020B0606030504020204" pitchFamily="34" charset="0"/>
              </a:rPr>
              <a:t>Have a healthy diet</a:t>
            </a:r>
          </a:p>
        </p:txBody>
      </p:sp>
      <p:sp>
        <p:nvSpPr>
          <p:cNvPr id="25" name="TextBox 24">
            <a:extLst>
              <a:ext uri="{FF2B5EF4-FFF2-40B4-BE49-F238E27FC236}">
                <a16:creationId xmlns:a16="http://schemas.microsoft.com/office/drawing/2014/main" id="{1B6BBB65-3BFB-D6A1-5721-54559749326E}"/>
              </a:ext>
            </a:extLst>
          </p:cNvPr>
          <p:cNvSpPr txBox="1"/>
          <p:nvPr/>
        </p:nvSpPr>
        <p:spPr>
          <a:xfrm>
            <a:off x="7504602" y="5285751"/>
            <a:ext cx="4093779" cy="477054"/>
          </a:xfrm>
          <a:prstGeom prst="rect">
            <a:avLst/>
          </a:prstGeom>
          <a:noFill/>
        </p:spPr>
        <p:txBody>
          <a:bodyPr wrap="square">
            <a:spAutoFit/>
          </a:bodyPr>
          <a:lstStyle/>
          <a:p>
            <a:pPr marL="342900" indent="-342900">
              <a:buFont typeface="Arial" panose="020B0604020202020204" pitchFamily="34" charset="0"/>
              <a:buChar char="•"/>
            </a:pPr>
            <a:r>
              <a:rPr lang="en-US" sz="2500" dirty="0">
                <a:highlight>
                  <a:srgbClr val="FFFFFF"/>
                </a:highlight>
                <a:latin typeface="Open Sans" panose="020B0606030504020204" pitchFamily="34" charset="0"/>
              </a:rPr>
              <a:t>Spend time with family</a:t>
            </a:r>
          </a:p>
        </p:txBody>
      </p:sp>
      <p:sp>
        <p:nvSpPr>
          <p:cNvPr id="27" name="TextBox 26">
            <a:extLst>
              <a:ext uri="{FF2B5EF4-FFF2-40B4-BE49-F238E27FC236}">
                <a16:creationId xmlns:a16="http://schemas.microsoft.com/office/drawing/2014/main" id="{C099923E-F1DE-48FD-3C94-2ED1E1098AD5}"/>
              </a:ext>
            </a:extLst>
          </p:cNvPr>
          <p:cNvSpPr txBox="1"/>
          <p:nvPr/>
        </p:nvSpPr>
        <p:spPr>
          <a:xfrm>
            <a:off x="4054472" y="5285751"/>
            <a:ext cx="4824247" cy="477054"/>
          </a:xfrm>
          <a:prstGeom prst="rect">
            <a:avLst/>
          </a:prstGeom>
          <a:noFill/>
        </p:spPr>
        <p:txBody>
          <a:bodyPr wrap="square">
            <a:spAutoFit/>
          </a:bodyPr>
          <a:lstStyle/>
          <a:p>
            <a:pPr marL="342900" indent="-342900" algn="l">
              <a:buFont typeface="Arial" panose="020B0604020202020204" pitchFamily="34" charset="0"/>
              <a:buChar char="•"/>
            </a:pPr>
            <a:r>
              <a:rPr lang="en-US" sz="2500" dirty="0">
                <a:highlight>
                  <a:srgbClr val="FFFFFF"/>
                </a:highlight>
                <a:latin typeface="Open Sans" panose="020B0606030504020204" pitchFamily="34" charset="0"/>
              </a:rPr>
              <a:t>Obtain a good job</a:t>
            </a:r>
          </a:p>
        </p:txBody>
      </p:sp>
    </p:spTree>
    <p:extLst>
      <p:ext uri="{BB962C8B-B14F-4D97-AF65-F5344CB8AC3E}">
        <p14:creationId xmlns:p14="http://schemas.microsoft.com/office/powerpoint/2010/main" val="227037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BC0ABCE-788D-A574-D831-23AF9C524ADC}"/>
              </a:ext>
            </a:extLst>
          </p:cNvPr>
          <p:cNvGrpSpPr/>
          <p:nvPr/>
        </p:nvGrpSpPr>
        <p:grpSpPr>
          <a:xfrm>
            <a:off x="-24306" y="0"/>
            <a:ext cx="12216306" cy="6964636"/>
            <a:chOff x="-24306" y="0"/>
            <a:chExt cx="12216306" cy="6964636"/>
          </a:xfrm>
        </p:grpSpPr>
        <p:pic>
          <p:nvPicPr>
            <p:cNvPr id="10" name="Picture 9">
              <a:extLst>
                <a:ext uri="{FF2B5EF4-FFF2-40B4-BE49-F238E27FC236}">
                  <a16:creationId xmlns:a16="http://schemas.microsoft.com/office/drawing/2014/main" id="{973155AC-5644-19F7-3124-06BBD0E2FBA8}"/>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EE2FBC8F-DB7D-9A8C-95D9-EA21C7EB86FB}"/>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BCD19AF2-0CF7-4716-3543-2CB1ABAE9C92}"/>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DE19F30A-C277-153E-9C95-38A1926F483D}"/>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C15EF650-EA45-EF28-93FD-12F90FB0D84A}"/>
              </a:ext>
            </a:extLst>
          </p:cNvPr>
          <p:cNvSpPr/>
          <p:nvPr/>
        </p:nvSpPr>
        <p:spPr>
          <a:xfrm>
            <a:off x="436396" y="2859093"/>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 name="TextBox 3">
            <a:extLst>
              <a:ext uri="{FF2B5EF4-FFF2-40B4-BE49-F238E27FC236}">
                <a16:creationId xmlns:a16="http://schemas.microsoft.com/office/drawing/2014/main" id="{B0EA1CD7-BED2-1FE4-0576-AB73A3EF6C0B}"/>
              </a:ext>
            </a:extLst>
          </p:cNvPr>
          <p:cNvSpPr txBox="1"/>
          <p:nvPr/>
        </p:nvSpPr>
        <p:spPr>
          <a:xfrm>
            <a:off x="2927129" y="1174070"/>
            <a:ext cx="7436071" cy="2123658"/>
          </a:xfrm>
          <a:prstGeom prst="rect">
            <a:avLst/>
          </a:prstGeom>
          <a:noFill/>
        </p:spPr>
        <p:txBody>
          <a:bodyPr wrap="square">
            <a:spAutoFit/>
          </a:bodyPr>
          <a:lstStyle/>
          <a:p>
            <a:r>
              <a:rPr lang="en-US" sz="4400" b="1" dirty="0">
                <a:latin typeface="+mj-lt"/>
                <a:ea typeface="+mj-ea"/>
                <a:cs typeface="+mj-cs"/>
              </a:rPr>
              <a:t>What are the principles of Effective Goals?</a:t>
            </a:r>
            <a:br>
              <a:rPr lang="en-US" sz="4400" dirty="0"/>
            </a:br>
            <a:endParaRPr lang="en-MX" sz="4400" b="1" dirty="0">
              <a:latin typeface="+mj-lt"/>
              <a:ea typeface="+mj-ea"/>
              <a:cs typeface="+mj-cs"/>
            </a:endParaRPr>
          </a:p>
        </p:txBody>
      </p:sp>
      <p:sp>
        <p:nvSpPr>
          <p:cNvPr id="5" name="TextBox 4">
            <a:extLst>
              <a:ext uri="{FF2B5EF4-FFF2-40B4-BE49-F238E27FC236}">
                <a16:creationId xmlns:a16="http://schemas.microsoft.com/office/drawing/2014/main" id="{ECEBF0C2-2BBF-FB81-5101-618DAC27DF79}"/>
              </a:ext>
            </a:extLst>
          </p:cNvPr>
          <p:cNvSpPr txBox="1"/>
          <p:nvPr/>
        </p:nvSpPr>
        <p:spPr>
          <a:xfrm>
            <a:off x="436396" y="3020111"/>
            <a:ext cx="5128615" cy="707886"/>
          </a:xfrm>
          <a:prstGeom prst="rect">
            <a:avLst/>
          </a:prstGeom>
          <a:noFill/>
        </p:spPr>
        <p:txBody>
          <a:bodyPr wrap="square">
            <a:spAutoFit/>
          </a:bodyPr>
          <a:lstStyle/>
          <a:p>
            <a:pPr marL="571500" indent="-571500">
              <a:buFont typeface="Arial" panose="020B0604020202020204" pitchFamily="34" charset="0"/>
              <a:buChar char="•"/>
            </a:pPr>
            <a:r>
              <a:rPr lang="en-US" sz="4000" b="1" i="0" dirty="0">
                <a:solidFill>
                  <a:srgbClr val="636466"/>
                </a:solidFill>
                <a:effectLst/>
                <a:highlight>
                  <a:srgbClr val="FFFFFF"/>
                </a:highlight>
                <a:latin typeface="Open Sans" panose="020B0606030504020204" pitchFamily="34" charset="0"/>
              </a:rPr>
              <a:t>S</a:t>
            </a:r>
            <a:endParaRPr lang="en-MX" sz="4000" dirty="0"/>
          </a:p>
        </p:txBody>
      </p:sp>
      <p:sp>
        <p:nvSpPr>
          <p:cNvPr id="6" name="TextBox 5">
            <a:extLst>
              <a:ext uri="{FF2B5EF4-FFF2-40B4-BE49-F238E27FC236}">
                <a16:creationId xmlns:a16="http://schemas.microsoft.com/office/drawing/2014/main" id="{F9321B9E-A10F-514D-2D79-DDDFB570C07A}"/>
              </a:ext>
            </a:extLst>
          </p:cNvPr>
          <p:cNvSpPr txBox="1"/>
          <p:nvPr/>
        </p:nvSpPr>
        <p:spPr>
          <a:xfrm>
            <a:off x="410336" y="3703802"/>
            <a:ext cx="5128615" cy="707886"/>
          </a:xfrm>
          <a:prstGeom prst="rect">
            <a:avLst/>
          </a:prstGeom>
          <a:noFill/>
        </p:spPr>
        <p:txBody>
          <a:bodyPr wrap="square">
            <a:spAutoFit/>
          </a:bodyPr>
          <a:lstStyle/>
          <a:p>
            <a:pPr marL="571500" indent="-571500">
              <a:buFont typeface="Arial" panose="020B0604020202020204" pitchFamily="34" charset="0"/>
              <a:buChar char="•"/>
            </a:pPr>
            <a:r>
              <a:rPr lang="en-US" sz="4000" b="1" i="0" dirty="0">
                <a:solidFill>
                  <a:srgbClr val="636466"/>
                </a:solidFill>
                <a:effectLst/>
                <a:highlight>
                  <a:srgbClr val="FFFFFF"/>
                </a:highlight>
                <a:latin typeface="Open Sans" panose="020B0606030504020204" pitchFamily="34" charset="0"/>
              </a:rPr>
              <a:t>M</a:t>
            </a:r>
            <a:endParaRPr lang="en-MX" sz="4000" dirty="0"/>
          </a:p>
        </p:txBody>
      </p:sp>
      <p:sp>
        <p:nvSpPr>
          <p:cNvPr id="7" name="TextBox 6">
            <a:extLst>
              <a:ext uri="{FF2B5EF4-FFF2-40B4-BE49-F238E27FC236}">
                <a16:creationId xmlns:a16="http://schemas.microsoft.com/office/drawing/2014/main" id="{8ABF5E64-8184-EB34-BC2C-1F17AD544259}"/>
              </a:ext>
            </a:extLst>
          </p:cNvPr>
          <p:cNvSpPr txBox="1"/>
          <p:nvPr/>
        </p:nvSpPr>
        <p:spPr>
          <a:xfrm>
            <a:off x="410337" y="4343118"/>
            <a:ext cx="4056560" cy="707886"/>
          </a:xfrm>
          <a:prstGeom prst="rect">
            <a:avLst/>
          </a:prstGeom>
          <a:noFill/>
        </p:spPr>
        <p:txBody>
          <a:bodyPr wrap="square">
            <a:spAutoFit/>
          </a:bodyPr>
          <a:lstStyle/>
          <a:p>
            <a:pPr marL="571500" indent="-571500">
              <a:buFont typeface="Arial" panose="020B0604020202020204" pitchFamily="34" charset="0"/>
              <a:buChar char="•"/>
            </a:pPr>
            <a:r>
              <a:rPr lang="en-US" sz="4000" b="1" i="0" dirty="0">
                <a:solidFill>
                  <a:srgbClr val="636466"/>
                </a:solidFill>
                <a:effectLst/>
                <a:highlight>
                  <a:srgbClr val="FFFFFF"/>
                </a:highlight>
                <a:latin typeface="Open Sans" panose="020B0606030504020204" pitchFamily="34" charset="0"/>
              </a:rPr>
              <a:t>A</a:t>
            </a:r>
            <a:endParaRPr lang="en-MX" sz="4000" dirty="0"/>
          </a:p>
        </p:txBody>
      </p:sp>
      <p:sp>
        <p:nvSpPr>
          <p:cNvPr id="14" name="TextBox 13">
            <a:extLst>
              <a:ext uri="{FF2B5EF4-FFF2-40B4-BE49-F238E27FC236}">
                <a16:creationId xmlns:a16="http://schemas.microsoft.com/office/drawing/2014/main" id="{361A6148-FEE9-3BED-794A-67EADEB79BAA}"/>
              </a:ext>
            </a:extLst>
          </p:cNvPr>
          <p:cNvSpPr txBox="1"/>
          <p:nvPr/>
        </p:nvSpPr>
        <p:spPr>
          <a:xfrm>
            <a:off x="410337" y="4964902"/>
            <a:ext cx="4056560" cy="707886"/>
          </a:xfrm>
          <a:prstGeom prst="rect">
            <a:avLst/>
          </a:prstGeom>
          <a:noFill/>
        </p:spPr>
        <p:txBody>
          <a:bodyPr wrap="square">
            <a:spAutoFit/>
          </a:bodyPr>
          <a:lstStyle/>
          <a:p>
            <a:pPr marL="571500" indent="-571500">
              <a:buFont typeface="Arial" panose="020B0604020202020204" pitchFamily="34" charset="0"/>
              <a:buChar char="•"/>
            </a:pPr>
            <a:r>
              <a:rPr lang="en-US" sz="4000" b="1" i="0" dirty="0">
                <a:solidFill>
                  <a:srgbClr val="636466"/>
                </a:solidFill>
                <a:effectLst/>
                <a:highlight>
                  <a:srgbClr val="FFFFFF"/>
                </a:highlight>
                <a:latin typeface="Open Sans" panose="020B0606030504020204" pitchFamily="34" charset="0"/>
              </a:rPr>
              <a:t>R</a:t>
            </a:r>
            <a:endParaRPr lang="en-MX" sz="4000" dirty="0"/>
          </a:p>
        </p:txBody>
      </p:sp>
      <p:sp>
        <p:nvSpPr>
          <p:cNvPr id="15" name="TextBox 14">
            <a:extLst>
              <a:ext uri="{FF2B5EF4-FFF2-40B4-BE49-F238E27FC236}">
                <a16:creationId xmlns:a16="http://schemas.microsoft.com/office/drawing/2014/main" id="{FDF4D162-FE0F-10FB-653E-325C86596D08}"/>
              </a:ext>
            </a:extLst>
          </p:cNvPr>
          <p:cNvSpPr txBox="1"/>
          <p:nvPr/>
        </p:nvSpPr>
        <p:spPr>
          <a:xfrm>
            <a:off x="436396" y="5605697"/>
            <a:ext cx="3935907" cy="707886"/>
          </a:xfrm>
          <a:prstGeom prst="rect">
            <a:avLst/>
          </a:prstGeom>
          <a:noFill/>
        </p:spPr>
        <p:txBody>
          <a:bodyPr wrap="square">
            <a:spAutoFit/>
          </a:bodyPr>
          <a:lstStyle/>
          <a:p>
            <a:pPr marL="571500" indent="-571500">
              <a:buFont typeface="Arial" panose="020B0604020202020204" pitchFamily="34" charset="0"/>
              <a:buChar char="•"/>
            </a:pPr>
            <a:r>
              <a:rPr lang="en-US" sz="4000" b="1" i="0" dirty="0">
                <a:solidFill>
                  <a:srgbClr val="636466"/>
                </a:solidFill>
                <a:effectLst/>
                <a:highlight>
                  <a:srgbClr val="FFFFFF"/>
                </a:highlight>
                <a:latin typeface="Open Sans" panose="020B0606030504020204" pitchFamily="34" charset="0"/>
              </a:rPr>
              <a:t>T</a:t>
            </a:r>
            <a:endParaRPr lang="en-MX" sz="4000" dirty="0"/>
          </a:p>
        </p:txBody>
      </p:sp>
    </p:spTree>
    <p:extLst>
      <p:ext uri="{BB962C8B-B14F-4D97-AF65-F5344CB8AC3E}">
        <p14:creationId xmlns:p14="http://schemas.microsoft.com/office/powerpoint/2010/main" val="1986768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BC0ABCE-788D-A574-D831-23AF9C524ADC}"/>
              </a:ext>
            </a:extLst>
          </p:cNvPr>
          <p:cNvGrpSpPr/>
          <p:nvPr/>
        </p:nvGrpSpPr>
        <p:grpSpPr>
          <a:xfrm>
            <a:off x="-24306" y="0"/>
            <a:ext cx="12216306" cy="6964636"/>
            <a:chOff x="-24306" y="0"/>
            <a:chExt cx="12216306" cy="6964636"/>
          </a:xfrm>
        </p:grpSpPr>
        <p:pic>
          <p:nvPicPr>
            <p:cNvPr id="10" name="Picture 9">
              <a:extLst>
                <a:ext uri="{FF2B5EF4-FFF2-40B4-BE49-F238E27FC236}">
                  <a16:creationId xmlns:a16="http://schemas.microsoft.com/office/drawing/2014/main" id="{973155AC-5644-19F7-3124-06BBD0E2FBA8}"/>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EE2FBC8F-DB7D-9A8C-95D9-EA21C7EB86FB}"/>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BCD19AF2-0CF7-4716-3543-2CB1ABAE9C92}"/>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DE19F30A-C277-153E-9C95-38A1926F483D}"/>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C15EF650-EA45-EF28-93FD-12F90FB0D84A}"/>
              </a:ext>
            </a:extLst>
          </p:cNvPr>
          <p:cNvSpPr/>
          <p:nvPr/>
        </p:nvSpPr>
        <p:spPr>
          <a:xfrm>
            <a:off x="436396" y="2659397"/>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 name="TextBox 3">
            <a:extLst>
              <a:ext uri="{FF2B5EF4-FFF2-40B4-BE49-F238E27FC236}">
                <a16:creationId xmlns:a16="http://schemas.microsoft.com/office/drawing/2014/main" id="{B0EA1CD7-BED2-1FE4-0576-AB73A3EF6C0B}"/>
              </a:ext>
            </a:extLst>
          </p:cNvPr>
          <p:cNvSpPr txBox="1"/>
          <p:nvPr/>
        </p:nvSpPr>
        <p:spPr>
          <a:xfrm>
            <a:off x="2927129" y="1174070"/>
            <a:ext cx="7436071" cy="2123658"/>
          </a:xfrm>
          <a:prstGeom prst="rect">
            <a:avLst/>
          </a:prstGeom>
          <a:noFill/>
        </p:spPr>
        <p:txBody>
          <a:bodyPr wrap="square">
            <a:spAutoFit/>
          </a:bodyPr>
          <a:lstStyle/>
          <a:p>
            <a:r>
              <a:rPr lang="en-US" sz="4400" b="1" dirty="0">
                <a:latin typeface="+mj-lt"/>
                <a:ea typeface="+mj-ea"/>
                <a:cs typeface="+mj-cs"/>
              </a:rPr>
              <a:t>What are the principles of Effective Goals?</a:t>
            </a:r>
            <a:br>
              <a:rPr lang="en-US" sz="4400" dirty="0"/>
            </a:br>
            <a:endParaRPr lang="en-MX" sz="4400" b="1" dirty="0">
              <a:latin typeface="+mj-lt"/>
              <a:ea typeface="+mj-ea"/>
              <a:cs typeface="+mj-cs"/>
            </a:endParaRPr>
          </a:p>
        </p:txBody>
      </p:sp>
      <p:sp>
        <p:nvSpPr>
          <p:cNvPr id="5" name="TextBox 4">
            <a:extLst>
              <a:ext uri="{FF2B5EF4-FFF2-40B4-BE49-F238E27FC236}">
                <a16:creationId xmlns:a16="http://schemas.microsoft.com/office/drawing/2014/main" id="{FE56A18B-E1CE-C12D-4F27-ECF6C5BD6BCC}"/>
              </a:ext>
            </a:extLst>
          </p:cNvPr>
          <p:cNvSpPr txBox="1"/>
          <p:nvPr/>
        </p:nvSpPr>
        <p:spPr>
          <a:xfrm>
            <a:off x="436396" y="2915011"/>
            <a:ext cx="5128615" cy="707886"/>
          </a:xfrm>
          <a:prstGeom prst="rect">
            <a:avLst/>
          </a:prstGeom>
          <a:noFill/>
        </p:spPr>
        <p:txBody>
          <a:bodyPr wrap="square">
            <a:spAutoFit/>
          </a:bodyPr>
          <a:lstStyle/>
          <a:p>
            <a:pPr marL="571500" indent="-571500">
              <a:buFont typeface="Arial" panose="020B0604020202020204" pitchFamily="34" charset="0"/>
              <a:buChar char="•"/>
            </a:pPr>
            <a:r>
              <a:rPr lang="en-US" sz="4000" b="1" i="0" dirty="0">
                <a:solidFill>
                  <a:srgbClr val="636466"/>
                </a:solidFill>
                <a:effectLst/>
                <a:highlight>
                  <a:srgbClr val="FFFFFF"/>
                </a:highlight>
                <a:latin typeface="Open Sans" panose="020B0606030504020204" pitchFamily="34" charset="0"/>
              </a:rPr>
              <a:t>Specific</a:t>
            </a:r>
            <a:endParaRPr lang="en-MX" sz="4000" dirty="0"/>
          </a:p>
        </p:txBody>
      </p:sp>
      <p:sp>
        <p:nvSpPr>
          <p:cNvPr id="7" name="TextBox 6">
            <a:extLst>
              <a:ext uri="{FF2B5EF4-FFF2-40B4-BE49-F238E27FC236}">
                <a16:creationId xmlns:a16="http://schemas.microsoft.com/office/drawing/2014/main" id="{653ACD23-A169-222E-9993-BEB934424C0C}"/>
              </a:ext>
            </a:extLst>
          </p:cNvPr>
          <p:cNvSpPr txBox="1"/>
          <p:nvPr/>
        </p:nvSpPr>
        <p:spPr>
          <a:xfrm>
            <a:off x="410336" y="3598702"/>
            <a:ext cx="5128615" cy="707886"/>
          </a:xfrm>
          <a:prstGeom prst="rect">
            <a:avLst/>
          </a:prstGeom>
          <a:noFill/>
        </p:spPr>
        <p:txBody>
          <a:bodyPr wrap="square">
            <a:spAutoFit/>
          </a:bodyPr>
          <a:lstStyle/>
          <a:p>
            <a:pPr marL="571500" indent="-571500">
              <a:buFont typeface="Arial" panose="020B0604020202020204" pitchFamily="34" charset="0"/>
              <a:buChar char="•"/>
            </a:pPr>
            <a:r>
              <a:rPr lang="en-US" sz="4000" b="1" i="0" dirty="0">
                <a:solidFill>
                  <a:srgbClr val="636466"/>
                </a:solidFill>
                <a:effectLst/>
                <a:highlight>
                  <a:srgbClr val="FFFFFF"/>
                </a:highlight>
                <a:latin typeface="Open Sans" panose="020B0606030504020204" pitchFamily="34" charset="0"/>
              </a:rPr>
              <a:t>Measurable</a:t>
            </a:r>
            <a:endParaRPr lang="en-MX" sz="4000" dirty="0"/>
          </a:p>
        </p:txBody>
      </p:sp>
      <p:sp>
        <p:nvSpPr>
          <p:cNvPr id="14" name="TextBox 13">
            <a:extLst>
              <a:ext uri="{FF2B5EF4-FFF2-40B4-BE49-F238E27FC236}">
                <a16:creationId xmlns:a16="http://schemas.microsoft.com/office/drawing/2014/main" id="{8552F110-C148-B1A6-89D7-DE9712A3D839}"/>
              </a:ext>
            </a:extLst>
          </p:cNvPr>
          <p:cNvSpPr txBox="1"/>
          <p:nvPr/>
        </p:nvSpPr>
        <p:spPr>
          <a:xfrm>
            <a:off x="410337" y="4238018"/>
            <a:ext cx="4056560" cy="707886"/>
          </a:xfrm>
          <a:prstGeom prst="rect">
            <a:avLst/>
          </a:prstGeom>
          <a:noFill/>
        </p:spPr>
        <p:txBody>
          <a:bodyPr wrap="square">
            <a:spAutoFit/>
          </a:bodyPr>
          <a:lstStyle/>
          <a:p>
            <a:pPr marL="571500" indent="-571500">
              <a:buFont typeface="Arial" panose="020B0604020202020204" pitchFamily="34" charset="0"/>
              <a:buChar char="•"/>
            </a:pPr>
            <a:r>
              <a:rPr lang="en-US" sz="4000" b="1" i="0" dirty="0">
                <a:solidFill>
                  <a:srgbClr val="636466"/>
                </a:solidFill>
                <a:effectLst/>
                <a:highlight>
                  <a:srgbClr val="FFFFFF"/>
                </a:highlight>
                <a:latin typeface="Open Sans" panose="020B0606030504020204" pitchFamily="34" charset="0"/>
              </a:rPr>
              <a:t>Actionable</a:t>
            </a:r>
            <a:endParaRPr lang="en-MX" sz="4000" dirty="0"/>
          </a:p>
        </p:txBody>
      </p:sp>
      <p:sp>
        <p:nvSpPr>
          <p:cNvPr id="16" name="TextBox 15">
            <a:extLst>
              <a:ext uri="{FF2B5EF4-FFF2-40B4-BE49-F238E27FC236}">
                <a16:creationId xmlns:a16="http://schemas.microsoft.com/office/drawing/2014/main" id="{2DA1E1C6-5FEB-9A5B-530B-2FCC0D891463}"/>
              </a:ext>
            </a:extLst>
          </p:cNvPr>
          <p:cNvSpPr txBox="1"/>
          <p:nvPr/>
        </p:nvSpPr>
        <p:spPr>
          <a:xfrm>
            <a:off x="410337" y="4859802"/>
            <a:ext cx="4056560" cy="707886"/>
          </a:xfrm>
          <a:prstGeom prst="rect">
            <a:avLst/>
          </a:prstGeom>
          <a:noFill/>
        </p:spPr>
        <p:txBody>
          <a:bodyPr wrap="square">
            <a:spAutoFit/>
          </a:bodyPr>
          <a:lstStyle/>
          <a:p>
            <a:pPr marL="571500" indent="-571500">
              <a:buFont typeface="Arial" panose="020B0604020202020204" pitchFamily="34" charset="0"/>
              <a:buChar char="•"/>
            </a:pPr>
            <a:r>
              <a:rPr lang="en-US" sz="4000" b="1" i="0" dirty="0">
                <a:solidFill>
                  <a:srgbClr val="636466"/>
                </a:solidFill>
                <a:effectLst/>
                <a:highlight>
                  <a:srgbClr val="FFFFFF"/>
                </a:highlight>
                <a:latin typeface="Open Sans" panose="020B0606030504020204" pitchFamily="34" charset="0"/>
              </a:rPr>
              <a:t>Relevant</a:t>
            </a:r>
            <a:endParaRPr lang="en-MX" sz="4000" dirty="0"/>
          </a:p>
        </p:txBody>
      </p:sp>
      <p:sp>
        <p:nvSpPr>
          <p:cNvPr id="18" name="TextBox 17">
            <a:extLst>
              <a:ext uri="{FF2B5EF4-FFF2-40B4-BE49-F238E27FC236}">
                <a16:creationId xmlns:a16="http://schemas.microsoft.com/office/drawing/2014/main" id="{95B5E3B5-01C5-EC64-8CD5-CA29AAA5A0C0}"/>
              </a:ext>
            </a:extLst>
          </p:cNvPr>
          <p:cNvSpPr txBox="1"/>
          <p:nvPr/>
        </p:nvSpPr>
        <p:spPr>
          <a:xfrm>
            <a:off x="436396" y="5500597"/>
            <a:ext cx="3935907" cy="707886"/>
          </a:xfrm>
          <a:prstGeom prst="rect">
            <a:avLst/>
          </a:prstGeom>
          <a:noFill/>
        </p:spPr>
        <p:txBody>
          <a:bodyPr wrap="square">
            <a:spAutoFit/>
          </a:bodyPr>
          <a:lstStyle/>
          <a:p>
            <a:pPr marL="571500" indent="-571500">
              <a:buFont typeface="Arial" panose="020B0604020202020204" pitchFamily="34" charset="0"/>
              <a:buChar char="•"/>
            </a:pPr>
            <a:r>
              <a:rPr lang="en-US" sz="4000" b="1" i="0" dirty="0">
                <a:solidFill>
                  <a:srgbClr val="636466"/>
                </a:solidFill>
                <a:effectLst/>
                <a:highlight>
                  <a:srgbClr val="FFFFFF"/>
                </a:highlight>
                <a:latin typeface="Open Sans" panose="020B0606030504020204" pitchFamily="34" charset="0"/>
              </a:rPr>
              <a:t>Time Bound</a:t>
            </a:r>
            <a:endParaRPr lang="en-MX" sz="4000" dirty="0"/>
          </a:p>
        </p:txBody>
      </p:sp>
    </p:spTree>
    <p:extLst>
      <p:ext uri="{BB962C8B-B14F-4D97-AF65-F5344CB8AC3E}">
        <p14:creationId xmlns:p14="http://schemas.microsoft.com/office/powerpoint/2010/main" val="733750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BC0ABCE-788D-A574-D831-23AF9C524ADC}"/>
              </a:ext>
            </a:extLst>
          </p:cNvPr>
          <p:cNvGrpSpPr/>
          <p:nvPr/>
        </p:nvGrpSpPr>
        <p:grpSpPr>
          <a:xfrm>
            <a:off x="-24306" y="0"/>
            <a:ext cx="12216306" cy="6964636"/>
            <a:chOff x="-24306" y="0"/>
            <a:chExt cx="12216306" cy="6964636"/>
          </a:xfrm>
        </p:grpSpPr>
        <p:pic>
          <p:nvPicPr>
            <p:cNvPr id="10" name="Picture 9">
              <a:extLst>
                <a:ext uri="{FF2B5EF4-FFF2-40B4-BE49-F238E27FC236}">
                  <a16:creationId xmlns:a16="http://schemas.microsoft.com/office/drawing/2014/main" id="{973155AC-5644-19F7-3124-06BBD0E2FBA8}"/>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EE2FBC8F-DB7D-9A8C-95D9-EA21C7EB86FB}"/>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BCD19AF2-0CF7-4716-3543-2CB1ABAE9C92}"/>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DE19F30A-C277-153E-9C95-38A1926F483D}"/>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C15EF650-EA45-EF28-93FD-12F90FB0D84A}"/>
              </a:ext>
            </a:extLst>
          </p:cNvPr>
          <p:cNvSpPr/>
          <p:nvPr/>
        </p:nvSpPr>
        <p:spPr>
          <a:xfrm>
            <a:off x="601826" y="2079904"/>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 name="TextBox 3">
            <a:extLst>
              <a:ext uri="{FF2B5EF4-FFF2-40B4-BE49-F238E27FC236}">
                <a16:creationId xmlns:a16="http://schemas.microsoft.com/office/drawing/2014/main" id="{B0EA1CD7-BED2-1FE4-0576-AB73A3EF6C0B}"/>
              </a:ext>
            </a:extLst>
          </p:cNvPr>
          <p:cNvSpPr txBox="1"/>
          <p:nvPr/>
        </p:nvSpPr>
        <p:spPr>
          <a:xfrm>
            <a:off x="2927129" y="1174070"/>
            <a:ext cx="7436071" cy="769441"/>
          </a:xfrm>
          <a:prstGeom prst="rect">
            <a:avLst/>
          </a:prstGeom>
          <a:noFill/>
        </p:spPr>
        <p:txBody>
          <a:bodyPr wrap="square">
            <a:spAutoFit/>
          </a:bodyPr>
          <a:lstStyle/>
          <a:p>
            <a:r>
              <a:rPr lang="en-US" sz="4400" b="1" dirty="0">
                <a:latin typeface="+mj-lt"/>
                <a:ea typeface="+mj-ea"/>
                <a:cs typeface="+mj-cs"/>
              </a:rPr>
              <a:t>Principles of Effective Goals</a:t>
            </a:r>
            <a:endParaRPr lang="en-MX" sz="4400" b="1" dirty="0">
              <a:latin typeface="+mj-lt"/>
              <a:ea typeface="+mj-ea"/>
              <a:cs typeface="+mj-cs"/>
            </a:endParaRPr>
          </a:p>
        </p:txBody>
      </p:sp>
      <p:sp>
        <p:nvSpPr>
          <p:cNvPr id="5" name="TextBox 4">
            <a:extLst>
              <a:ext uri="{FF2B5EF4-FFF2-40B4-BE49-F238E27FC236}">
                <a16:creationId xmlns:a16="http://schemas.microsoft.com/office/drawing/2014/main" id="{FE56A18B-E1CE-C12D-4F27-ECF6C5BD6BCC}"/>
              </a:ext>
            </a:extLst>
          </p:cNvPr>
          <p:cNvSpPr txBox="1"/>
          <p:nvPr/>
        </p:nvSpPr>
        <p:spPr>
          <a:xfrm>
            <a:off x="436398" y="2261228"/>
            <a:ext cx="5128615" cy="553998"/>
          </a:xfrm>
          <a:prstGeom prst="rect">
            <a:avLst/>
          </a:prstGeom>
          <a:noFill/>
        </p:spPr>
        <p:txBody>
          <a:bodyPr wrap="square">
            <a:spAutoFit/>
          </a:bodyPr>
          <a:lstStyle/>
          <a:p>
            <a:r>
              <a:rPr lang="en-MX" sz="3000" b="1" dirty="0">
                <a:solidFill>
                  <a:srgbClr val="636466"/>
                </a:solidFill>
                <a:highlight>
                  <a:srgbClr val="FFFFFF"/>
                </a:highlight>
                <a:latin typeface="Open Sans" panose="020B0606030504020204" pitchFamily="34" charset="0"/>
              </a:rPr>
              <a:t>Example</a:t>
            </a:r>
          </a:p>
        </p:txBody>
      </p:sp>
      <p:sp>
        <p:nvSpPr>
          <p:cNvPr id="3" name="TextBox 2">
            <a:extLst>
              <a:ext uri="{FF2B5EF4-FFF2-40B4-BE49-F238E27FC236}">
                <a16:creationId xmlns:a16="http://schemas.microsoft.com/office/drawing/2014/main" id="{0B2FA8DA-8CCA-25A2-1A31-A02A5D759593}"/>
              </a:ext>
            </a:extLst>
          </p:cNvPr>
          <p:cNvSpPr txBox="1"/>
          <p:nvPr/>
        </p:nvSpPr>
        <p:spPr>
          <a:xfrm>
            <a:off x="788275" y="3006755"/>
            <a:ext cx="10899228" cy="2862322"/>
          </a:xfrm>
          <a:prstGeom prst="rect">
            <a:avLst/>
          </a:prstGeom>
          <a:noFill/>
        </p:spPr>
        <p:txBody>
          <a:bodyPr wrap="square">
            <a:spAutoFit/>
          </a:bodyPr>
          <a:lstStyle/>
          <a:p>
            <a:pPr algn="l">
              <a:buFont typeface="Arial" panose="020B0604020202020204" pitchFamily="34" charset="0"/>
              <a:buChar char="•"/>
            </a:pPr>
            <a:r>
              <a:rPr lang="en-US" sz="2000" b="0" i="0" dirty="0">
                <a:solidFill>
                  <a:srgbClr val="636466"/>
                </a:solidFill>
                <a:effectLst/>
                <a:highlight>
                  <a:srgbClr val="FFFFFF"/>
                </a:highlight>
                <a:latin typeface="Open Sans" panose="020B0606030504020204" pitchFamily="34" charset="0"/>
              </a:rPr>
              <a:t> </a:t>
            </a:r>
            <a:r>
              <a:rPr lang="en-US" sz="2000" b="1" i="0" dirty="0">
                <a:solidFill>
                  <a:srgbClr val="636466"/>
                </a:solidFill>
                <a:effectLst/>
                <a:highlight>
                  <a:srgbClr val="FFFFFF"/>
                </a:highlight>
                <a:latin typeface="Open Sans" panose="020B0606030504020204" pitchFamily="34" charset="0"/>
              </a:rPr>
              <a:t>Specific</a:t>
            </a:r>
            <a:r>
              <a:rPr lang="en-US" sz="2000" b="0" i="0" dirty="0">
                <a:solidFill>
                  <a:srgbClr val="636466"/>
                </a:solidFill>
                <a:effectLst/>
                <a:highlight>
                  <a:srgbClr val="FFFFFF"/>
                </a:highlight>
                <a:latin typeface="Open Sans" panose="020B0606030504020204" pitchFamily="34" charset="0"/>
              </a:rPr>
              <a:t>: Have Family Home Evening one night during the week at 6:00 p.m.</a:t>
            </a:r>
          </a:p>
          <a:p>
            <a:pPr algn="l"/>
            <a:endParaRPr lang="en-US" sz="2000" b="0" i="0" dirty="0">
              <a:solidFill>
                <a:srgbClr val="636466"/>
              </a:solidFill>
              <a:effectLst/>
              <a:highlight>
                <a:srgbClr val="FFFFFF"/>
              </a:highlight>
              <a:latin typeface="Open Sans" panose="020B0606030504020204" pitchFamily="34" charset="0"/>
            </a:endParaRPr>
          </a:p>
          <a:p>
            <a:pPr algn="l">
              <a:buFont typeface="Arial" panose="020B0604020202020204" pitchFamily="34" charset="0"/>
              <a:buChar char="•"/>
            </a:pPr>
            <a:r>
              <a:rPr lang="en-US" sz="2000" b="0" i="0" dirty="0">
                <a:solidFill>
                  <a:srgbClr val="636466"/>
                </a:solidFill>
                <a:effectLst/>
                <a:highlight>
                  <a:srgbClr val="FFFFFF"/>
                </a:highlight>
                <a:latin typeface="Open Sans" panose="020B0606030504020204" pitchFamily="34" charset="0"/>
              </a:rPr>
              <a:t> </a:t>
            </a:r>
            <a:r>
              <a:rPr lang="en-US" sz="2000" b="1" i="0" dirty="0">
                <a:solidFill>
                  <a:srgbClr val="636466"/>
                </a:solidFill>
                <a:effectLst/>
                <a:highlight>
                  <a:srgbClr val="FFFFFF"/>
                </a:highlight>
                <a:latin typeface="Open Sans" panose="020B0606030504020204" pitchFamily="34" charset="0"/>
              </a:rPr>
              <a:t>Measurable</a:t>
            </a:r>
            <a:r>
              <a:rPr lang="en-US" sz="2000" b="0" i="0" dirty="0">
                <a:solidFill>
                  <a:srgbClr val="636466"/>
                </a:solidFill>
                <a:effectLst/>
                <a:highlight>
                  <a:srgbClr val="FFFFFF"/>
                </a:highlight>
                <a:latin typeface="Open Sans" panose="020B0606030504020204" pitchFamily="34" charset="0"/>
              </a:rPr>
              <a:t>: It can be observed, recorded, and scheduled on a calendar.</a:t>
            </a:r>
          </a:p>
          <a:p>
            <a:pPr algn="l"/>
            <a:endParaRPr lang="en-US" sz="2000" b="0" i="0" dirty="0">
              <a:solidFill>
                <a:srgbClr val="636466"/>
              </a:solidFill>
              <a:effectLst/>
              <a:highlight>
                <a:srgbClr val="FFFFFF"/>
              </a:highlight>
              <a:latin typeface="Open Sans" panose="020B0606030504020204" pitchFamily="34" charset="0"/>
            </a:endParaRPr>
          </a:p>
          <a:p>
            <a:pPr algn="l">
              <a:buFont typeface="Arial" panose="020B0604020202020204" pitchFamily="34" charset="0"/>
              <a:buChar char="•"/>
            </a:pPr>
            <a:r>
              <a:rPr lang="en-US" sz="2000" b="0" i="0" dirty="0">
                <a:solidFill>
                  <a:srgbClr val="636466"/>
                </a:solidFill>
                <a:effectLst/>
                <a:highlight>
                  <a:srgbClr val="FFFFFF"/>
                </a:highlight>
                <a:latin typeface="Open Sans" panose="020B0606030504020204" pitchFamily="34" charset="0"/>
              </a:rPr>
              <a:t> </a:t>
            </a:r>
            <a:r>
              <a:rPr lang="en-US" sz="2000" b="1" i="0" dirty="0">
                <a:solidFill>
                  <a:srgbClr val="636466"/>
                </a:solidFill>
                <a:effectLst/>
                <a:highlight>
                  <a:srgbClr val="FFFFFF"/>
                </a:highlight>
                <a:latin typeface="Open Sans" panose="020B0606030504020204" pitchFamily="34" charset="0"/>
              </a:rPr>
              <a:t>Actionable</a:t>
            </a:r>
            <a:r>
              <a:rPr lang="en-US" sz="2000" b="0" i="0" dirty="0">
                <a:solidFill>
                  <a:srgbClr val="636466"/>
                </a:solidFill>
                <a:effectLst/>
                <a:highlight>
                  <a:srgbClr val="FFFFFF"/>
                </a:highlight>
                <a:latin typeface="Open Sans" panose="020B0606030504020204" pitchFamily="34" charset="0"/>
              </a:rPr>
              <a:t>: Everyone in the family can adjust their schedule to this time.</a:t>
            </a:r>
          </a:p>
          <a:p>
            <a:pPr algn="l"/>
            <a:endParaRPr lang="en-US" sz="2000" b="0" i="0" dirty="0">
              <a:solidFill>
                <a:srgbClr val="636466"/>
              </a:solidFill>
              <a:effectLst/>
              <a:highlight>
                <a:srgbClr val="FFFFFF"/>
              </a:highlight>
              <a:latin typeface="Open Sans" panose="020B0606030504020204" pitchFamily="34" charset="0"/>
            </a:endParaRPr>
          </a:p>
          <a:p>
            <a:pPr algn="l">
              <a:buFont typeface="Arial" panose="020B0604020202020204" pitchFamily="34" charset="0"/>
              <a:buChar char="•"/>
            </a:pPr>
            <a:r>
              <a:rPr lang="en-US" sz="2000" b="0" i="0" dirty="0">
                <a:solidFill>
                  <a:srgbClr val="636466"/>
                </a:solidFill>
                <a:effectLst/>
                <a:highlight>
                  <a:srgbClr val="FFFFFF"/>
                </a:highlight>
                <a:latin typeface="Open Sans" panose="020B0606030504020204" pitchFamily="34" charset="0"/>
              </a:rPr>
              <a:t> </a:t>
            </a:r>
            <a:r>
              <a:rPr lang="en-US" sz="2000" b="1" i="0" dirty="0">
                <a:solidFill>
                  <a:srgbClr val="636466"/>
                </a:solidFill>
                <a:effectLst/>
                <a:highlight>
                  <a:srgbClr val="FFFFFF"/>
                </a:highlight>
                <a:latin typeface="Open Sans" panose="020B0606030504020204" pitchFamily="34" charset="0"/>
              </a:rPr>
              <a:t>Relevant</a:t>
            </a:r>
            <a:r>
              <a:rPr lang="en-US" sz="2000" b="0" i="0" dirty="0">
                <a:solidFill>
                  <a:srgbClr val="636466"/>
                </a:solidFill>
                <a:effectLst/>
                <a:highlight>
                  <a:srgbClr val="FFFFFF"/>
                </a:highlight>
                <a:latin typeface="Open Sans" panose="020B0606030504020204" pitchFamily="34" charset="0"/>
              </a:rPr>
              <a:t>: It directly relates to the goal to spend time as a family and be a good parent.</a:t>
            </a:r>
          </a:p>
          <a:p>
            <a:pPr algn="l"/>
            <a:endParaRPr lang="en-US" sz="2000" b="0" i="0" dirty="0">
              <a:solidFill>
                <a:srgbClr val="636466"/>
              </a:solidFill>
              <a:effectLst/>
              <a:highlight>
                <a:srgbClr val="FFFFFF"/>
              </a:highlight>
              <a:latin typeface="Open Sans" panose="020B0606030504020204" pitchFamily="34" charset="0"/>
            </a:endParaRPr>
          </a:p>
          <a:p>
            <a:pPr algn="l">
              <a:buFont typeface="Arial" panose="020B0604020202020204" pitchFamily="34" charset="0"/>
              <a:buChar char="•"/>
            </a:pPr>
            <a:r>
              <a:rPr lang="en-US" sz="2000" b="0" i="0" dirty="0">
                <a:solidFill>
                  <a:srgbClr val="636466"/>
                </a:solidFill>
                <a:effectLst/>
                <a:highlight>
                  <a:srgbClr val="FFFFFF"/>
                </a:highlight>
                <a:latin typeface="Open Sans" panose="020B0606030504020204" pitchFamily="34" charset="0"/>
              </a:rPr>
              <a:t> </a:t>
            </a:r>
            <a:r>
              <a:rPr lang="en-US" sz="2000" b="1" i="0" dirty="0">
                <a:solidFill>
                  <a:srgbClr val="636466"/>
                </a:solidFill>
                <a:effectLst/>
                <a:highlight>
                  <a:srgbClr val="FFFFFF"/>
                </a:highlight>
                <a:latin typeface="Open Sans" panose="020B0606030504020204" pitchFamily="34" charset="0"/>
              </a:rPr>
              <a:t>Time Bound</a:t>
            </a:r>
            <a:r>
              <a:rPr lang="en-US" sz="2000" b="0" i="0" dirty="0">
                <a:solidFill>
                  <a:srgbClr val="636466"/>
                </a:solidFill>
                <a:effectLst/>
                <a:highlight>
                  <a:srgbClr val="FFFFFF"/>
                </a:highlight>
                <a:latin typeface="Open Sans" panose="020B0606030504020204" pitchFamily="34" charset="0"/>
              </a:rPr>
              <a:t>: Occurs every (specific night of the week), for 60 minutes.</a:t>
            </a:r>
          </a:p>
        </p:txBody>
      </p:sp>
    </p:spTree>
    <p:extLst>
      <p:ext uri="{BB962C8B-B14F-4D97-AF65-F5344CB8AC3E}">
        <p14:creationId xmlns:p14="http://schemas.microsoft.com/office/powerpoint/2010/main" val="1161111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BC0ABCE-788D-A574-D831-23AF9C524ADC}"/>
              </a:ext>
            </a:extLst>
          </p:cNvPr>
          <p:cNvGrpSpPr/>
          <p:nvPr/>
        </p:nvGrpSpPr>
        <p:grpSpPr>
          <a:xfrm>
            <a:off x="-32058" y="0"/>
            <a:ext cx="12216306" cy="6964636"/>
            <a:chOff x="-24306" y="0"/>
            <a:chExt cx="12216306" cy="6964636"/>
          </a:xfrm>
        </p:grpSpPr>
        <p:pic>
          <p:nvPicPr>
            <p:cNvPr id="10" name="Picture 9">
              <a:extLst>
                <a:ext uri="{FF2B5EF4-FFF2-40B4-BE49-F238E27FC236}">
                  <a16:creationId xmlns:a16="http://schemas.microsoft.com/office/drawing/2014/main" id="{973155AC-5644-19F7-3124-06BBD0E2FBA8}"/>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EE2FBC8F-DB7D-9A8C-95D9-EA21C7EB86FB}"/>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BCD19AF2-0CF7-4716-3543-2CB1ABAE9C92}"/>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DE19F30A-C277-153E-9C95-38A1926F483D}"/>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C15EF650-EA45-EF28-93FD-12F90FB0D84A}"/>
              </a:ext>
            </a:extLst>
          </p:cNvPr>
          <p:cNvSpPr/>
          <p:nvPr/>
        </p:nvSpPr>
        <p:spPr>
          <a:xfrm>
            <a:off x="1187509" y="1039805"/>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 name="TextBox 3">
            <a:extLst>
              <a:ext uri="{FF2B5EF4-FFF2-40B4-BE49-F238E27FC236}">
                <a16:creationId xmlns:a16="http://schemas.microsoft.com/office/drawing/2014/main" id="{B0EA1CD7-BED2-1FE4-0576-AB73A3EF6C0B}"/>
              </a:ext>
            </a:extLst>
          </p:cNvPr>
          <p:cNvSpPr txBox="1"/>
          <p:nvPr/>
        </p:nvSpPr>
        <p:spPr>
          <a:xfrm>
            <a:off x="2894787" y="198074"/>
            <a:ext cx="8334704" cy="707886"/>
          </a:xfrm>
          <a:prstGeom prst="rect">
            <a:avLst/>
          </a:prstGeom>
          <a:noFill/>
        </p:spPr>
        <p:txBody>
          <a:bodyPr wrap="square">
            <a:spAutoFit/>
          </a:bodyPr>
          <a:lstStyle/>
          <a:p>
            <a:r>
              <a:rPr lang="en-US" sz="4000" b="1" dirty="0">
                <a:latin typeface="+mj-lt"/>
                <a:ea typeface="+mj-ea"/>
                <a:cs typeface="+mj-cs"/>
              </a:rPr>
              <a:t>Example of a goal in my own life</a:t>
            </a:r>
            <a:endParaRPr lang="en-MX" sz="4000" b="1" dirty="0">
              <a:latin typeface="+mj-lt"/>
              <a:ea typeface="+mj-ea"/>
              <a:cs typeface="+mj-cs"/>
            </a:endParaRPr>
          </a:p>
        </p:txBody>
      </p:sp>
      <p:sp>
        <p:nvSpPr>
          <p:cNvPr id="2" name="TextBox 1">
            <a:extLst>
              <a:ext uri="{FF2B5EF4-FFF2-40B4-BE49-F238E27FC236}">
                <a16:creationId xmlns:a16="http://schemas.microsoft.com/office/drawing/2014/main" id="{B31B5B68-1817-CE7A-9AD4-57A8BB5CFEC0}"/>
              </a:ext>
            </a:extLst>
          </p:cNvPr>
          <p:cNvSpPr txBox="1"/>
          <p:nvPr/>
        </p:nvSpPr>
        <p:spPr>
          <a:xfrm>
            <a:off x="3358729" y="1433902"/>
            <a:ext cx="4647804" cy="477054"/>
          </a:xfrm>
          <a:prstGeom prst="rect">
            <a:avLst/>
          </a:prstGeom>
          <a:noFill/>
        </p:spPr>
        <p:txBody>
          <a:bodyPr wrap="square">
            <a:spAutoFit/>
          </a:bodyPr>
          <a:lstStyle/>
          <a:p>
            <a:r>
              <a:rPr lang="en-US" sz="2500" b="1" dirty="0">
                <a:solidFill>
                  <a:srgbClr val="002060"/>
                </a:solidFill>
                <a:highlight>
                  <a:srgbClr val="FFFFFF"/>
                </a:highlight>
                <a:latin typeface="Open Sans" panose="020B0606030504020204" pitchFamily="34" charset="0"/>
              </a:rPr>
              <a:t>Eternal marriage and family</a:t>
            </a:r>
            <a:endParaRPr lang="en-MX" sz="2500" b="1" dirty="0">
              <a:solidFill>
                <a:srgbClr val="002060"/>
              </a:solidFill>
              <a:highlight>
                <a:srgbClr val="FFFFFF"/>
              </a:highlight>
              <a:latin typeface="Open Sans" panose="020B0606030504020204" pitchFamily="34" charset="0"/>
            </a:endParaRPr>
          </a:p>
        </p:txBody>
      </p:sp>
      <p:sp>
        <p:nvSpPr>
          <p:cNvPr id="6" name="TextBox 5">
            <a:extLst>
              <a:ext uri="{FF2B5EF4-FFF2-40B4-BE49-F238E27FC236}">
                <a16:creationId xmlns:a16="http://schemas.microsoft.com/office/drawing/2014/main" id="{DCC68D53-D095-F78D-2D12-CB4D2F7EA310}"/>
              </a:ext>
            </a:extLst>
          </p:cNvPr>
          <p:cNvSpPr txBox="1"/>
          <p:nvPr/>
        </p:nvSpPr>
        <p:spPr>
          <a:xfrm>
            <a:off x="2132239" y="2537684"/>
            <a:ext cx="3030085" cy="446276"/>
          </a:xfrm>
          <a:prstGeom prst="rect">
            <a:avLst/>
          </a:prstGeom>
          <a:noFill/>
        </p:spPr>
        <p:txBody>
          <a:bodyPr wrap="square">
            <a:spAutoFit/>
          </a:bodyPr>
          <a:lstStyle/>
          <a:p>
            <a:r>
              <a:rPr lang="en-MX" sz="2300" dirty="0">
                <a:solidFill>
                  <a:schemeClr val="accent1">
                    <a:lumMod val="75000"/>
                  </a:schemeClr>
                </a:solidFill>
                <a:highlight>
                  <a:srgbClr val="FFFFFF"/>
                </a:highlight>
                <a:latin typeface="Open Sans" panose="020B0606030504020204" pitchFamily="34" charset="0"/>
              </a:rPr>
              <a:t>Secular preparation</a:t>
            </a:r>
          </a:p>
        </p:txBody>
      </p:sp>
      <p:sp>
        <p:nvSpPr>
          <p:cNvPr id="7" name="TextBox 6">
            <a:extLst>
              <a:ext uri="{FF2B5EF4-FFF2-40B4-BE49-F238E27FC236}">
                <a16:creationId xmlns:a16="http://schemas.microsoft.com/office/drawing/2014/main" id="{6A35EF87-9FEC-AD00-E611-A03170A1C639}"/>
              </a:ext>
            </a:extLst>
          </p:cNvPr>
          <p:cNvSpPr txBox="1"/>
          <p:nvPr/>
        </p:nvSpPr>
        <p:spPr>
          <a:xfrm>
            <a:off x="5538938" y="2562436"/>
            <a:ext cx="3046402" cy="446276"/>
          </a:xfrm>
          <a:prstGeom prst="rect">
            <a:avLst/>
          </a:prstGeom>
          <a:noFill/>
        </p:spPr>
        <p:txBody>
          <a:bodyPr wrap="square">
            <a:spAutoFit/>
          </a:bodyPr>
          <a:lstStyle/>
          <a:p>
            <a:r>
              <a:rPr lang="en-MX" sz="2300" dirty="0">
                <a:solidFill>
                  <a:schemeClr val="accent1">
                    <a:lumMod val="75000"/>
                  </a:schemeClr>
                </a:solidFill>
                <a:highlight>
                  <a:srgbClr val="FFFFFF"/>
                </a:highlight>
                <a:latin typeface="Open Sans" panose="020B0606030504020204" pitchFamily="34" charset="0"/>
              </a:rPr>
              <a:t>Spiritual preparation</a:t>
            </a:r>
          </a:p>
        </p:txBody>
      </p:sp>
      <p:sp>
        <p:nvSpPr>
          <p:cNvPr id="8" name="TextBox 7">
            <a:extLst>
              <a:ext uri="{FF2B5EF4-FFF2-40B4-BE49-F238E27FC236}">
                <a16:creationId xmlns:a16="http://schemas.microsoft.com/office/drawing/2014/main" id="{64DDCBDD-5E5B-0A20-69EC-5A4C74A36D1F}"/>
              </a:ext>
            </a:extLst>
          </p:cNvPr>
          <p:cNvSpPr txBox="1"/>
          <p:nvPr/>
        </p:nvSpPr>
        <p:spPr>
          <a:xfrm>
            <a:off x="8897138" y="3484942"/>
            <a:ext cx="3218391" cy="738664"/>
          </a:xfrm>
          <a:prstGeom prst="rect">
            <a:avLst/>
          </a:prstGeom>
          <a:noFill/>
        </p:spPr>
        <p:txBody>
          <a:bodyPr wrap="square">
            <a:spAutoFit/>
          </a:bodyPr>
          <a:lstStyle/>
          <a:p>
            <a:r>
              <a:rPr lang="en-MX" sz="2100" dirty="0">
                <a:solidFill>
                  <a:schemeClr val="accent1">
                    <a:lumMod val="60000"/>
                    <a:lumOff val="40000"/>
                  </a:schemeClr>
                </a:solidFill>
                <a:highlight>
                  <a:srgbClr val="FFFFFF"/>
                </a:highlight>
                <a:latin typeface="Open Sans" panose="020B0606030504020204" pitchFamily="34" charset="0"/>
              </a:rPr>
              <a:t>Graduate Seminary and Institute</a:t>
            </a:r>
          </a:p>
        </p:txBody>
      </p:sp>
      <p:sp>
        <p:nvSpPr>
          <p:cNvPr id="15" name="TextBox 14">
            <a:extLst>
              <a:ext uri="{FF2B5EF4-FFF2-40B4-BE49-F238E27FC236}">
                <a16:creationId xmlns:a16="http://schemas.microsoft.com/office/drawing/2014/main" id="{89EEEEE2-2C00-656D-34DC-83303AC1389B}"/>
              </a:ext>
            </a:extLst>
          </p:cNvPr>
          <p:cNvSpPr txBox="1"/>
          <p:nvPr/>
        </p:nvSpPr>
        <p:spPr>
          <a:xfrm>
            <a:off x="5185928" y="4223606"/>
            <a:ext cx="3768739" cy="384721"/>
          </a:xfrm>
          <a:prstGeom prst="rect">
            <a:avLst/>
          </a:prstGeom>
          <a:noFill/>
        </p:spPr>
        <p:txBody>
          <a:bodyPr wrap="square">
            <a:spAutoFit/>
          </a:bodyPr>
          <a:lstStyle/>
          <a:p>
            <a:r>
              <a:rPr lang="en-MX" sz="1900" dirty="0">
                <a:solidFill>
                  <a:schemeClr val="accent2">
                    <a:lumMod val="75000"/>
                  </a:schemeClr>
                </a:solidFill>
                <a:highlight>
                  <a:srgbClr val="FFFFFF"/>
                </a:highlight>
                <a:latin typeface="Open Sans" panose="020B0606030504020204" pitchFamily="34" charset="0"/>
              </a:rPr>
              <a:t>Make y keep sacred covenants</a:t>
            </a:r>
          </a:p>
        </p:txBody>
      </p:sp>
      <p:sp>
        <p:nvSpPr>
          <p:cNvPr id="16" name="TextBox 15">
            <a:extLst>
              <a:ext uri="{FF2B5EF4-FFF2-40B4-BE49-F238E27FC236}">
                <a16:creationId xmlns:a16="http://schemas.microsoft.com/office/drawing/2014/main" id="{938CA6C0-312F-9D30-8AC4-67CC5CA1220D}"/>
              </a:ext>
            </a:extLst>
          </p:cNvPr>
          <p:cNvSpPr txBox="1"/>
          <p:nvPr/>
        </p:nvSpPr>
        <p:spPr>
          <a:xfrm>
            <a:off x="5622481" y="3528482"/>
            <a:ext cx="2895632" cy="415498"/>
          </a:xfrm>
          <a:prstGeom prst="rect">
            <a:avLst/>
          </a:prstGeom>
          <a:noFill/>
        </p:spPr>
        <p:txBody>
          <a:bodyPr wrap="square">
            <a:spAutoFit/>
          </a:bodyPr>
          <a:lstStyle/>
          <a:p>
            <a:r>
              <a:rPr lang="en-MX" sz="2100" dirty="0">
                <a:solidFill>
                  <a:schemeClr val="accent1">
                    <a:lumMod val="60000"/>
                    <a:lumOff val="40000"/>
                  </a:schemeClr>
                </a:solidFill>
                <a:highlight>
                  <a:srgbClr val="FFFFFF"/>
                </a:highlight>
                <a:latin typeface="Open Sans" panose="020B0606030504020204" pitchFamily="34" charset="0"/>
              </a:rPr>
              <a:t>Serve as a missionary</a:t>
            </a:r>
          </a:p>
        </p:txBody>
      </p:sp>
      <p:sp>
        <p:nvSpPr>
          <p:cNvPr id="17" name="TextBox 16">
            <a:extLst>
              <a:ext uri="{FF2B5EF4-FFF2-40B4-BE49-F238E27FC236}">
                <a16:creationId xmlns:a16="http://schemas.microsoft.com/office/drawing/2014/main" id="{3BFB37A0-AA75-BBB8-B3CE-53EE0241B0F3}"/>
              </a:ext>
            </a:extLst>
          </p:cNvPr>
          <p:cNvSpPr txBox="1"/>
          <p:nvPr/>
        </p:nvSpPr>
        <p:spPr>
          <a:xfrm>
            <a:off x="8904895" y="4721746"/>
            <a:ext cx="3226951" cy="677108"/>
          </a:xfrm>
          <a:prstGeom prst="rect">
            <a:avLst/>
          </a:prstGeom>
          <a:noFill/>
        </p:spPr>
        <p:txBody>
          <a:bodyPr wrap="square">
            <a:spAutoFit/>
          </a:bodyPr>
          <a:lstStyle/>
          <a:p>
            <a:r>
              <a:rPr lang="en-MX" sz="1900" dirty="0">
                <a:solidFill>
                  <a:schemeClr val="accent2">
                    <a:lumMod val="75000"/>
                  </a:schemeClr>
                </a:solidFill>
                <a:highlight>
                  <a:srgbClr val="FFFFFF"/>
                </a:highlight>
                <a:latin typeface="Open Sans" panose="020B0606030504020204" pitchFamily="34" charset="0"/>
              </a:rPr>
              <a:t>Attend and participate to classes</a:t>
            </a:r>
          </a:p>
        </p:txBody>
      </p:sp>
      <p:sp>
        <p:nvSpPr>
          <p:cNvPr id="19" name="TextBox 18">
            <a:extLst>
              <a:ext uri="{FF2B5EF4-FFF2-40B4-BE49-F238E27FC236}">
                <a16:creationId xmlns:a16="http://schemas.microsoft.com/office/drawing/2014/main" id="{35BDB9A7-95B0-2205-7E42-CB3C676DDD61}"/>
              </a:ext>
            </a:extLst>
          </p:cNvPr>
          <p:cNvSpPr txBox="1"/>
          <p:nvPr/>
        </p:nvSpPr>
        <p:spPr>
          <a:xfrm>
            <a:off x="4784161" y="5675480"/>
            <a:ext cx="4572275" cy="323165"/>
          </a:xfrm>
          <a:prstGeom prst="rect">
            <a:avLst/>
          </a:prstGeom>
          <a:noFill/>
        </p:spPr>
        <p:txBody>
          <a:bodyPr wrap="square">
            <a:spAutoFit/>
          </a:bodyPr>
          <a:lstStyle/>
          <a:p>
            <a:r>
              <a:rPr lang="en-MX" sz="1500" dirty="0">
                <a:solidFill>
                  <a:schemeClr val="accent6">
                    <a:lumMod val="50000"/>
                  </a:schemeClr>
                </a:solidFill>
                <a:highlight>
                  <a:srgbClr val="FFFFFF"/>
                </a:highlight>
                <a:latin typeface="Open Sans" panose="020B0606030504020204" pitchFamily="34" charset="0"/>
              </a:rPr>
              <a:t>Repentance and keep commandments everyday</a:t>
            </a:r>
          </a:p>
        </p:txBody>
      </p:sp>
      <p:sp>
        <p:nvSpPr>
          <p:cNvPr id="20" name="TextBox 19">
            <a:extLst>
              <a:ext uri="{FF2B5EF4-FFF2-40B4-BE49-F238E27FC236}">
                <a16:creationId xmlns:a16="http://schemas.microsoft.com/office/drawing/2014/main" id="{885307CB-C919-21F1-73EC-4C062195C070}"/>
              </a:ext>
            </a:extLst>
          </p:cNvPr>
          <p:cNvSpPr txBox="1"/>
          <p:nvPr/>
        </p:nvSpPr>
        <p:spPr>
          <a:xfrm>
            <a:off x="2371761" y="4831010"/>
            <a:ext cx="2525001" cy="323165"/>
          </a:xfrm>
          <a:prstGeom prst="rect">
            <a:avLst/>
          </a:prstGeom>
          <a:noFill/>
        </p:spPr>
        <p:txBody>
          <a:bodyPr wrap="square">
            <a:spAutoFit/>
          </a:bodyPr>
          <a:lstStyle/>
          <a:p>
            <a:r>
              <a:rPr lang="en-MX" sz="1500" dirty="0">
                <a:solidFill>
                  <a:schemeClr val="accent6">
                    <a:lumMod val="50000"/>
                  </a:schemeClr>
                </a:solidFill>
                <a:highlight>
                  <a:srgbClr val="FFFFFF"/>
                </a:highlight>
                <a:latin typeface="Open Sans" panose="020B0606030504020204" pitchFamily="34" charset="0"/>
              </a:rPr>
              <a:t>Graduate from University</a:t>
            </a:r>
          </a:p>
        </p:txBody>
      </p:sp>
      <p:sp>
        <p:nvSpPr>
          <p:cNvPr id="21" name="TextBox 20">
            <a:extLst>
              <a:ext uri="{FF2B5EF4-FFF2-40B4-BE49-F238E27FC236}">
                <a16:creationId xmlns:a16="http://schemas.microsoft.com/office/drawing/2014/main" id="{1E8E760B-C578-2428-6332-A1FE2C182E23}"/>
              </a:ext>
            </a:extLst>
          </p:cNvPr>
          <p:cNvSpPr txBox="1"/>
          <p:nvPr/>
        </p:nvSpPr>
        <p:spPr>
          <a:xfrm>
            <a:off x="2614939" y="4292461"/>
            <a:ext cx="2054060" cy="353943"/>
          </a:xfrm>
          <a:prstGeom prst="rect">
            <a:avLst/>
          </a:prstGeom>
          <a:noFill/>
        </p:spPr>
        <p:txBody>
          <a:bodyPr wrap="square">
            <a:spAutoFit/>
          </a:bodyPr>
          <a:lstStyle/>
          <a:p>
            <a:r>
              <a:rPr lang="en-MX" sz="1700" dirty="0">
                <a:solidFill>
                  <a:schemeClr val="accent2">
                    <a:lumMod val="60000"/>
                    <a:lumOff val="40000"/>
                  </a:schemeClr>
                </a:solidFill>
                <a:highlight>
                  <a:srgbClr val="FFFFFF"/>
                </a:highlight>
                <a:latin typeface="Open Sans" panose="020B0606030504020204" pitchFamily="34" charset="0"/>
              </a:rPr>
              <a:t>Obtain a good job</a:t>
            </a:r>
          </a:p>
        </p:txBody>
      </p:sp>
      <p:sp>
        <p:nvSpPr>
          <p:cNvPr id="22" name="TextBox 21">
            <a:extLst>
              <a:ext uri="{FF2B5EF4-FFF2-40B4-BE49-F238E27FC236}">
                <a16:creationId xmlns:a16="http://schemas.microsoft.com/office/drawing/2014/main" id="{7550206E-C669-662C-2154-B8E46F0ACCE0}"/>
              </a:ext>
            </a:extLst>
          </p:cNvPr>
          <p:cNvSpPr txBox="1"/>
          <p:nvPr/>
        </p:nvSpPr>
        <p:spPr>
          <a:xfrm>
            <a:off x="150780" y="4938586"/>
            <a:ext cx="1909921" cy="492443"/>
          </a:xfrm>
          <a:prstGeom prst="rect">
            <a:avLst/>
          </a:prstGeom>
          <a:noFill/>
        </p:spPr>
        <p:txBody>
          <a:bodyPr wrap="square">
            <a:spAutoFit/>
          </a:bodyPr>
          <a:lstStyle/>
          <a:p>
            <a:r>
              <a:rPr lang="en-MX" sz="1300" dirty="0">
                <a:solidFill>
                  <a:schemeClr val="accent6">
                    <a:lumMod val="75000"/>
                  </a:schemeClr>
                </a:solidFill>
                <a:highlight>
                  <a:srgbClr val="FFFFFF"/>
                </a:highlight>
                <a:latin typeface="Open Sans" panose="020B0606030504020204" pitchFamily="34" charset="0"/>
              </a:rPr>
              <a:t>Attend to classes and </a:t>
            </a:r>
          </a:p>
          <a:p>
            <a:r>
              <a:rPr lang="en-MX" sz="1300" dirty="0">
                <a:solidFill>
                  <a:schemeClr val="accent6">
                    <a:lumMod val="75000"/>
                  </a:schemeClr>
                </a:solidFill>
                <a:highlight>
                  <a:srgbClr val="FFFFFF"/>
                </a:highlight>
                <a:latin typeface="Open Sans" panose="020B0606030504020204" pitchFamily="34" charset="0"/>
              </a:rPr>
              <a:t>have good grades</a:t>
            </a:r>
          </a:p>
        </p:txBody>
      </p:sp>
      <p:sp>
        <p:nvSpPr>
          <p:cNvPr id="23" name="TextBox 22">
            <a:extLst>
              <a:ext uri="{FF2B5EF4-FFF2-40B4-BE49-F238E27FC236}">
                <a16:creationId xmlns:a16="http://schemas.microsoft.com/office/drawing/2014/main" id="{61068AC8-6B54-902D-EF06-735A75E1687F}"/>
              </a:ext>
            </a:extLst>
          </p:cNvPr>
          <p:cNvSpPr txBox="1"/>
          <p:nvPr/>
        </p:nvSpPr>
        <p:spPr>
          <a:xfrm>
            <a:off x="5555256" y="4998372"/>
            <a:ext cx="3030084" cy="353943"/>
          </a:xfrm>
          <a:prstGeom prst="rect">
            <a:avLst/>
          </a:prstGeom>
          <a:noFill/>
        </p:spPr>
        <p:txBody>
          <a:bodyPr wrap="square">
            <a:spAutoFit/>
          </a:bodyPr>
          <a:lstStyle/>
          <a:p>
            <a:r>
              <a:rPr lang="en-MX" sz="1700" dirty="0">
                <a:solidFill>
                  <a:schemeClr val="accent2">
                    <a:lumMod val="60000"/>
                    <a:lumOff val="40000"/>
                  </a:schemeClr>
                </a:solidFill>
                <a:highlight>
                  <a:srgbClr val="FFFFFF"/>
                </a:highlight>
                <a:latin typeface="Open Sans" panose="020B0606030504020204" pitchFamily="34" charset="0"/>
              </a:rPr>
              <a:t>Attend to church meetings</a:t>
            </a:r>
          </a:p>
        </p:txBody>
      </p:sp>
      <p:sp>
        <p:nvSpPr>
          <p:cNvPr id="27" name="TextBox 26">
            <a:extLst>
              <a:ext uri="{FF2B5EF4-FFF2-40B4-BE49-F238E27FC236}">
                <a16:creationId xmlns:a16="http://schemas.microsoft.com/office/drawing/2014/main" id="{0671FF26-D3D8-D2F6-8C4C-FF243B718C59}"/>
              </a:ext>
            </a:extLst>
          </p:cNvPr>
          <p:cNvSpPr txBox="1"/>
          <p:nvPr/>
        </p:nvSpPr>
        <p:spPr>
          <a:xfrm>
            <a:off x="2248809" y="5327967"/>
            <a:ext cx="2763127" cy="323165"/>
          </a:xfrm>
          <a:prstGeom prst="rect">
            <a:avLst/>
          </a:prstGeom>
          <a:noFill/>
        </p:spPr>
        <p:txBody>
          <a:bodyPr wrap="square">
            <a:spAutoFit/>
          </a:bodyPr>
          <a:lstStyle/>
          <a:p>
            <a:r>
              <a:rPr lang="en-MX" sz="1500" dirty="0">
                <a:solidFill>
                  <a:schemeClr val="accent6">
                    <a:lumMod val="50000"/>
                  </a:schemeClr>
                </a:solidFill>
                <a:highlight>
                  <a:srgbClr val="FFFFFF"/>
                </a:highlight>
                <a:latin typeface="Open Sans" panose="020B0606030504020204" pitchFamily="34" charset="0"/>
              </a:rPr>
              <a:t>Graduate from H</a:t>
            </a:r>
            <a:r>
              <a:rPr lang="en-US" sz="1500" dirty="0" err="1">
                <a:solidFill>
                  <a:schemeClr val="accent6">
                    <a:lumMod val="50000"/>
                  </a:schemeClr>
                </a:solidFill>
                <a:highlight>
                  <a:srgbClr val="FFFFFF"/>
                </a:highlight>
                <a:latin typeface="Open Sans" panose="020B0606030504020204" pitchFamily="34" charset="0"/>
              </a:rPr>
              <a:t>i</a:t>
            </a:r>
            <a:r>
              <a:rPr lang="en-MX" sz="1500" dirty="0">
                <a:solidFill>
                  <a:schemeClr val="accent6">
                    <a:lumMod val="50000"/>
                  </a:schemeClr>
                </a:solidFill>
                <a:highlight>
                  <a:srgbClr val="FFFFFF"/>
                </a:highlight>
                <a:latin typeface="Open Sans" panose="020B0606030504020204" pitchFamily="34" charset="0"/>
              </a:rPr>
              <a:t>gh School</a:t>
            </a:r>
          </a:p>
        </p:txBody>
      </p:sp>
      <p:sp>
        <p:nvSpPr>
          <p:cNvPr id="28" name="TextBox 27">
            <a:extLst>
              <a:ext uri="{FF2B5EF4-FFF2-40B4-BE49-F238E27FC236}">
                <a16:creationId xmlns:a16="http://schemas.microsoft.com/office/drawing/2014/main" id="{F8B782A8-8FB8-440B-52DE-FA8C649D0EF0}"/>
              </a:ext>
            </a:extLst>
          </p:cNvPr>
          <p:cNvSpPr txBox="1"/>
          <p:nvPr/>
        </p:nvSpPr>
        <p:spPr>
          <a:xfrm>
            <a:off x="2819218" y="3747609"/>
            <a:ext cx="1645501" cy="384721"/>
          </a:xfrm>
          <a:prstGeom prst="rect">
            <a:avLst/>
          </a:prstGeom>
          <a:noFill/>
        </p:spPr>
        <p:txBody>
          <a:bodyPr wrap="square">
            <a:spAutoFit/>
          </a:bodyPr>
          <a:lstStyle/>
          <a:p>
            <a:r>
              <a:rPr lang="en-MX" sz="1900" dirty="0">
                <a:solidFill>
                  <a:schemeClr val="accent2">
                    <a:lumMod val="75000"/>
                  </a:schemeClr>
                </a:solidFill>
                <a:highlight>
                  <a:srgbClr val="FFFFFF"/>
                </a:highlight>
                <a:latin typeface="Open Sans" panose="020B0606030504020204" pitchFamily="34" charset="0"/>
              </a:rPr>
              <a:t>Save money</a:t>
            </a:r>
          </a:p>
        </p:txBody>
      </p:sp>
      <p:sp>
        <p:nvSpPr>
          <p:cNvPr id="29" name="TextBox 28">
            <a:extLst>
              <a:ext uri="{FF2B5EF4-FFF2-40B4-BE49-F238E27FC236}">
                <a16:creationId xmlns:a16="http://schemas.microsoft.com/office/drawing/2014/main" id="{8B1E40A4-2393-558E-5D60-34B60D889465}"/>
              </a:ext>
            </a:extLst>
          </p:cNvPr>
          <p:cNvSpPr txBox="1"/>
          <p:nvPr/>
        </p:nvSpPr>
        <p:spPr>
          <a:xfrm>
            <a:off x="1560491" y="3150178"/>
            <a:ext cx="4162956" cy="415498"/>
          </a:xfrm>
          <a:prstGeom prst="rect">
            <a:avLst/>
          </a:prstGeom>
          <a:noFill/>
        </p:spPr>
        <p:txBody>
          <a:bodyPr wrap="square">
            <a:spAutoFit/>
          </a:bodyPr>
          <a:lstStyle/>
          <a:p>
            <a:r>
              <a:rPr lang="en-US" sz="2100" dirty="0">
                <a:solidFill>
                  <a:schemeClr val="accent1">
                    <a:lumMod val="60000"/>
                    <a:lumOff val="40000"/>
                  </a:schemeClr>
                </a:solidFill>
              </a:rPr>
              <a:t>To be a good provider for my family</a:t>
            </a:r>
            <a:endParaRPr lang="en-MX" sz="2100" dirty="0">
              <a:solidFill>
                <a:schemeClr val="accent1">
                  <a:lumMod val="60000"/>
                  <a:lumOff val="40000"/>
                </a:schemeClr>
              </a:solidFill>
              <a:highlight>
                <a:srgbClr val="FFFFFF"/>
              </a:highlight>
              <a:latin typeface="Open Sans" panose="020B0606030504020204" pitchFamily="34" charset="0"/>
            </a:endParaRPr>
          </a:p>
        </p:txBody>
      </p:sp>
      <p:cxnSp>
        <p:nvCxnSpPr>
          <p:cNvPr id="14" name="Straight Arrow Connector 13">
            <a:extLst>
              <a:ext uri="{FF2B5EF4-FFF2-40B4-BE49-F238E27FC236}">
                <a16:creationId xmlns:a16="http://schemas.microsoft.com/office/drawing/2014/main" id="{41D701C5-0779-2AD0-C680-5C3790ADC150}"/>
              </a:ext>
            </a:extLst>
          </p:cNvPr>
          <p:cNvCxnSpPr>
            <a:cxnSpLocks/>
            <a:stCxn id="6" idx="0"/>
            <a:endCxn id="2" idx="2"/>
          </p:cNvCxnSpPr>
          <p:nvPr/>
        </p:nvCxnSpPr>
        <p:spPr>
          <a:xfrm flipV="1">
            <a:off x="3647282" y="1910956"/>
            <a:ext cx="2035349" cy="6267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31AAA536-DF36-829D-A0A9-080A48181BA1}"/>
              </a:ext>
            </a:extLst>
          </p:cNvPr>
          <p:cNvCxnSpPr>
            <a:cxnSpLocks/>
            <a:stCxn id="7" idx="0"/>
            <a:endCxn id="2" idx="2"/>
          </p:cNvCxnSpPr>
          <p:nvPr/>
        </p:nvCxnSpPr>
        <p:spPr>
          <a:xfrm flipH="1" flipV="1">
            <a:off x="5682631" y="1910956"/>
            <a:ext cx="1379508" cy="6514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2B3E28EB-25A3-B32E-31B2-FAE5DF696AF9}"/>
              </a:ext>
            </a:extLst>
          </p:cNvPr>
          <p:cNvCxnSpPr>
            <a:cxnSpLocks/>
            <a:stCxn id="16" idx="0"/>
            <a:endCxn id="7" idx="2"/>
          </p:cNvCxnSpPr>
          <p:nvPr/>
        </p:nvCxnSpPr>
        <p:spPr>
          <a:xfrm flipH="1" flipV="1">
            <a:off x="7062139" y="3008712"/>
            <a:ext cx="8158" cy="5197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D8185A30-F344-EF17-BE2C-1B18B516876C}"/>
              </a:ext>
            </a:extLst>
          </p:cNvPr>
          <p:cNvCxnSpPr>
            <a:cxnSpLocks/>
            <a:stCxn id="29" idx="0"/>
            <a:endCxn id="6" idx="2"/>
          </p:cNvCxnSpPr>
          <p:nvPr/>
        </p:nvCxnSpPr>
        <p:spPr>
          <a:xfrm flipV="1">
            <a:off x="3641969" y="2983960"/>
            <a:ext cx="5313" cy="16621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6A93945D-E17C-0AAF-34AD-C56D60C29294}"/>
              </a:ext>
            </a:extLst>
          </p:cNvPr>
          <p:cNvCxnSpPr>
            <a:cxnSpLocks/>
            <a:stCxn id="28" idx="0"/>
            <a:endCxn id="29" idx="2"/>
          </p:cNvCxnSpPr>
          <p:nvPr/>
        </p:nvCxnSpPr>
        <p:spPr>
          <a:xfrm flipV="1">
            <a:off x="3641969" y="3565676"/>
            <a:ext cx="0" cy="1819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68A9CB6E-F05E-9255-9F17-F7982BC5319F}"/>
              </a:ext>
            </a:extLst>
          </p:cNvPr>
          <p:cNvCxnSpPr>
            <a:cxnSpLocks/>
            <a:stCxn id="20" idx="0"/>
            <a:endCxn id="21" idx="2"/>
          </p:cNvCxnSpPr>
          <p:nvPr/>
        </p:nvCxnSpPr>
        <p:spPr>
          <a:xfrm flipV="1">
            <a:off x="3634262" y="4646404"/>
            <a:ext cx="7707" cy="1846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F7C36C0A-DC2B-FE34-DF73-D5BBFD671913}"/>
              </a:ext>
            </a:extLst>
          </p:cNvPr>
          <p:cNvCxnSpPr>
            <a:stCxn id="27" idx="0"/>
            <a:endCxn id="20" idx="2"/>
          </p:cNvCxnSpPr>
          <p:nvPr/>
        </p:nvCxnSpPr>
        <p:spPr>
          <a:xfrm flipV="1">
            <a:off x="3630373" y="5154175"/>
            <a:ext cx="3889" cy="1737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D5127E19-0475-BA7D-2EB9-216EC0181F0B}"/>
              </a:ext>
            </a:extLst>
          </p:cNvPr>
          <p:cNvCxnSpPr>
            <a:cxnSpLocks/>
            <a:stCxn id="21" idx="0"/>
            <a:endCxn id="28" idx="2"/>
          </p:cNvCxnSpPr>
          <p:nvPr/>
        </p:nvCxnSpPr>
        <p:spPr>
          <a:xfrm flipV="1">
            <a:off x="3641969" y="4132330"/>
            <a:ext cx="0" cy="1601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921EFDDA-A0BD-2C28-EC38-0323E7FD8D52}"/>
              </a:ext>
            </a:extLst>
          </p:cNvPr>
          <p:cNvCxnSpPr>
            <a:cxnSpLocks/>
            <a:stCxn id="15" idx="0"/>
            <a:endCxn id="16" idx="2"/>
          </p:cNvCxnSpPr>
          <p:nvPr/>
        </p:nvCxnSpPr>
        <p:spPr>
          <a:xfrm flipH="1" flipV="1">
            <a:off x="7070297" y="3943980"/>
            <a:ext cx="1" cy="2796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3" name="Straight Arrow Connector 72">
            <a:extLst>
              <a:ext uri="{FF2B5EF4-FFF2-40B4-BE49-F238E27FC236}">
                <a16:creationId xmlns:a16="http://schemas.microsoft.com/office/drawing/2014/main" id="{56647220-3887-ECCA-CB7B-28F17895CA54}"/>
              </a:ext>
            </a:extLst>
          </p:cNvPr>
          <p:cNvCxnSpPr>
            <a:cxnSpLocks/>
            <a:stCxn id="17" idx="0"/>
            <a:endCxn id="8" idx="2"/>
          </p:cNvCxnSpPr>
          <p:nvPr/>
        </p:nvCxnSpPr>
        <p:spPr>
          <a:xfrm flipH="1" flipV="1">
            <a:off x="10506334" y="4223606"/>
            <a:ext cx="12037" cy="49814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5363648B-1E39-01E3-F3F3-35100E3D5825}"/>
              </a:ext>
            </a:extLst>
          </p:cNvPr>
          <p:cNvCxnSpPr>
            <a:cxnSpLocks/>
            <a:stCxn id="23" idx="0"/>
            <a:endCxn id="15" idx="2"/>
          </p:cNvCxnSpPr>
          <p:nvPr/>
        </p:nvCxnSpPr>
        <p:spPr>
          <a:xfrm flipV="1">
            <a:off x="7070298" y="4608327"/>
            <a:ext cx="0" cy="39004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639733D5-8176-DEDA-975C-E0D2F5020E57}"/>
              </a:ext>
            </a:extLst>
          </p:cNvPr>
          <p:cNvCxnSpPr>
            <a:cxnSpLocks/>
            <a:stCxn id="8" idx="0"/>
            <a:endCxn id="7" idx="2"/>
          </p:cNvCxnSpPr>
          <p:nvPr/>
        </p:nvCxnSpPr>
        <p:spPr>
          <a:xfrm flipH="1" flipV="1">
            <a:off x="7062139" y="3008712"/>
            <a:ext cx="3444195" cy="4762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D85FE879-2AFD-4254-30EA-4E3E1CF4FF98}"/>
              </a:ext>
            </a:extLst>
          </p:cNvPr>
          <p:cNvCxnSpPr>
            <a:cxnSpLocks/>
            <a:stCxn id="19" idx="0"/>
            <a:endCxn id="23" idx="2"/>
          </p:cNvCxnSpPr>
          <p:nvPr/>
        </p:nvCxnSpPr>
        <p:spPr>
          <a:xfrm flipH="1" flipV="1">
            <a:off x="7070298" y="5352315"/>
            <a:ext cx="1" cy="3231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3" name="Straight Arrow Connector 112">
            <a:extLst>
              <a:ext uri="{FF2B5EF4-FFF2-40B4-BE49-F238E27FC236}">
                <a16:creationId xmlns:a16="http://schemas.microsoft.com/office/drawing/2014/main" id="{1D4017C0-177D-7E7B-0364-E830CEABA576}"/>
              </a:ext>
            </a:extLst>
          </p:cNvPr>
          <p:cNvCxnSpPr>
            <a:cxnSpLocks/>
            <a:stCxn id="22" idx="3"/>
            <a:endCxn id="20" idx="1"/>
          </p:cNvCxnSpPr>
          <p:nvPr/>
        </p:nvCxnSpPr>
        <p:spPr>
          <a:xfrm flipV="1">
            <a:off x="2060701" y="4992593"/>
            <a:ext cx="311060" cy="19221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5" name="Straight Arrow Connector 114">
            <a:extLst>
              <a:ext uri="{FF2B5EF4-FFF2-40B4-BE49-F238E27FC236}">
                <a16:creationId xmlns:a16="http://schemas.microsoft.com/office/drawing/2014/main" id="{43A8DED7-07F7-D788-ABA2-02908329C5A0}"/>
              </a:ext>
            </a:extLst>
          </p:cNvPr>
          <p:cNvCxnSpPr>
            <a:cxnSpLocks/>
            <a:stCxn id="22" idx="3"/>
            <a:endCxn id="27" idx="1"/>
          </p:cNvCxnSpPr>
          <p:nvPr/>
        </p:nvCxnSpPr>
        <p:spPr>
          <a:xfrm>
            <a:off x="2060701" y="5184808"/>
            <a:ext cx="188108" cy="30474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3028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BC0ABCE-788D-A574-D831-23AF9C524ADC}"/>
              </a:ext>
            </a:extLst>
          </p:cNvPr>
          <p:cNvGrpSpPr/>
          <p:nvPr/>
        </p:nvGrpSpPr>
        <p:grpSpPr>
          <a:xfrm>
            <a:off x="-15917" y="0"/>
            <a:ext cx="12216306" cy="6964636"/>
            <a:chOff x="-24306" y="0"/>
            <a:chExt cx="12216306" cy="6964636"/>
          </a:xfrm>
        </p:grpSpPr>
        <p:pic>
          <p:nvPicPr>
            <p:cNvPr id="10" name="Picture 9">
              <a:extLst>
                <a:ext uri="{FF2B5EF4-FFF2-40B4-BE49-F238E27FC236}">
                  <a16:creationId xmlns:a16="http://schemas.microsoft.com/office/drawing/2014/main" id="{973155AC-5644-19F7-3124-06BBD0E2FBA8}"/>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EE2FBC8F-DB7D-9A8C-95D9-EA21C7EB86FB}"/>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BCD19AF2-0CF7-4716-3543-2CB1ABAE9C92}"/>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DE19F30A-C277-153E-9C95-38A1926F483D}"/>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C15EF650-EA45-EF28-93FD-12F90FB0D84A}"/>
              </a:ext>
            </a:extLst>
          </p:cNvPr>
          <p:cNvSpPr/>
          <p:nvPr/>
        </p:nvSpPr>
        <p:spPr>
          <a:xfrm>
            <a:off x="601826" y="2079904"/>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 name="TextBox 3">
            <a:extLst>
              <a:ext uri="{FF2B5EF4-FFF2-40B4-BE49-F238E27FC236}">
                <a16:creationId xmlns:a16="http://schemas.microsoft.com/office/drawing/2014/main" id="{B0EA1CD7-BED2-1FE4-0576-AB73A3EF6C0B}"/>
              </a:ext>
            </a:extLst>
          </p:cNvPr>
          <p:cNvSpPr txBox="1"/>
          <p:nvPr/>
        </p:nvSpPr>
        <p:spPr>
          <a:xfrm>
            <a:off x="2927130" y="1174070"/>
            <a:ext cx="3800842" cy="769441"/>
          </a:xfrm>
          <a:prstGeom prst="rect">
            <a:avLst/>
          </a:prstGeom>
          <a:noFill/>
        </p:spPr>
        <p:txBody>
          <a:bodyPr wrap="square">
            <a:spAutoFit/>
          </a:bodyPr>
          <a:lstStyle/>
          <a:p>
            <a:r>
              <a:rPr lang="en-US" sz="4400" b="1" dirty="0">
                <a:latin typeface="+mj-lt"/>
                <a:ea typeface="+mj-ea"/>
                <a:cs typeface="+mj-cs"/>
              </a:rPr>
              <a:t>Class Activity</a:t>
            </a:r>
            <a:endParaRPr lang="en-MX" sz="4400" b="1" dirty="0">
              <a:latin typeface="+mj-lt"/>
              <a:ea typeface="+mj-ea"/>
              <a:cs typeface="+mj-cs"/>
            </a:endParaRPr>
          </a:p>
        </p:txBody>
      </p:sp>
      <p:sp>
        <p:nvSpPr>
          <p:cNvPr id="2" name="TextBox 1">
            <a:extLst>
              <a:ext uri="{FF2B5EF4-FFF2-40B4-BE49-F238E27FC236}">
                <a16:creationId xmlns:a16="http://schemas.microsoft.com/office/drawing/2014/main" id="{7EB62DDC-4005-CB6F-708A-A71D76B2A051}"/>
              </a:ext>
            </a:extLst>
          </p:cNvPr>
          <p:cNvSpPr txBox="1"/>
          <p:nvPr/>
        </p:nvSpPr>
        <p:spPr>
          <a:xfrm>
            <a:off x="679677" y="2406503"/>
            <a:ext cx="10315685" cy="477054"/>
          </a:xfrm>
          <a:prstGeom prst="rect">
            <a:avLst/>
          </a:prstGeom>
          <a:noFill/>
        </p:spPr>
        <p:txBody>
          <a:bodyPr wrap="square">
            <a:spAutoFit/>
          </a:bodyPr>
          <a:lstStyle/>
          <a:p>
            <a:r>
              <a:rPr lang="en-MX" sz="2500" kern="0" dirty="0">
                <a:solidFill>
                  <a:srgbClr val="000000"/>
                </a:solidFill>
                <a:effectLst/>
                <a:latin typeface="Arial" panose="020B0604020202020204" pitchFamily="34" charset="0"/>
                <a:ea typeface="Times New Roman" panose="02020603050405020304" pitchFamily="18" charset="0"/>
              </a:rPr>
              <a:t>- Divide the class into two groups</a:t>
            </a:r>
            <a:r>
              <a:rPr lang="en-MX" sz="2500" dirty="0">
                <a:effectLst/>
              </a:rPr>
              <a:t> </a:t>
            </a:r>
            <a:endParaRPr lang="en-MX" sz="2500" dirty="0">
              <a:solidFill>
                <a:srgbClr val="636466"/>
              </a:solidFill>
              <a:highlight>
                <a:srgbClr val="FFFFFF"/>
              </a:highlight>
              <a:latin typeface="Open Sans" panose="020B0606030504020204" pitchFamily="34" charset="0"/>
            </a:endParaRPr>
          </a:p>
        </p:txBody>
      </p:sp>
      <p:sp>
        <p:nvSpPr>
          <p:cNvPr id="7" name="TextBox 6">
            <a:extLst>
              <a:ext uri="{FF2B5EF4-FFF2-40B4-BE49-F238E27FC236}">
                <a16:creationId xmlns:a16="http://schemas.microsoft.com/office/drawing/2014/main" id="{59161280-9085-5967-A824-7725E0874E9B}"/>
              </a:ext>
            </a:extLst>
          </p:cNvPr>
          <p:cNvSpPr txBox="1"/>
          <p:nvPr/>
        </p:nvSpPr>
        <p:spPr>
          <a:xfrm>
            <a:off x="679676" y="2972850"/>
            <a:ext cx="9487780" cy="477054"/>
          </a:xfrm>
          <a:prstGeom prst="rect">
            <a:avLst/>
          </a:prstGeom>
          <a:noFill/>
        </p:spPr>
        <p:txBody>
          <a:bodyPr wrap="square">
            <a:spAutoFit/>
          </a:bodyPr>
          <a:lstStyle/>
          <a:p>
            <a:r>
              <a:rPr lang="en-MX" sz="2500" kern="0" dirty="0">
                <a:solidFill>
                  <a:srgbClr val="000000"/>
                </a:solidFill>
                <a:effectLst/>
                <a:latin typeface="Arial" panose="020B0604020202020204" pitchFamily="34" charset="0"/>
                <a:ea typeface="Times New Roman" panose="02020603050405020304" pitchFamily="18" charset="0"/>
              </a:rPr>
              <a:t>- Each group will work on one of the scenarios</a:t>
            </a:r>
            <a:endParaRPr lang="en-MX" sz="2500" dirty="0"/>
          </a:p>
        </p:txBody>
      </p:sp>
      <p:sp>
        <p:nvSpPr>
          <p:cNvPr id="14" name="TextBox 13">
            <a:extLst>
              <a:ext uri="{FF2B5EF4-FFF2-40B4-BE49-F238E27FC236}">
                <a16:creationId xmlns:a16="http://schemas.microsoft.com/office/drawing/2014/main" id="{029F91C6-FC2D-448B-123A-305B3E86BF37}"/>
              </a:ext>
            </a:extLst>
          </p:cNvPr>
          <p:cNvSpPr txBox="1"/>
          <p:nvPr/>
        </p:nvSpPr>
        <p:spPr>
          <a:xfrm>
            <a:off x="679676" y="3576653"/>
            <a:ext cx="11173967" cy="861774"/>
          </a:xfrm>
          <a:prstGeom prst="rect">
            <a:avLst/>
          </a:prstGeom>
          <a:noFill/>
        </p:spPr>
        <p:txBody>
          <a:bodyPr wrap="square">
            <a:spAutoFit/>
          </a:bodyPr>
          <a:lstStyle/>
          <a:p>
            <a:r>
              <a:rPr lang="en-MX" sz="2500" kern="0" dirty="0">
                <a:solidFill>
                  <a:srgbClr val="000000"/>
                </a:solidFill>
                <a:effectLst/>
                <a:latin typeface="Arial" panose="020B0604020202020204" pitchFamily="34" charset="0"/>
                <a:ea typeface="Times New Roman" panose="02020603050405020304" pitchFamily="18" charset="0"/>
              </a:rPr>
              <a:t>- Their task will be to identify a solid top-level goal as well as two lower-level goals for the person in the scenario.</a:t>
            </a:r>
            <a:r>
              <a:rPr lang="en-MX" sz="2500" dirty="0">
                <a:effectLst/>
              </a:rPr>
              <a:t> </a:t>
            </a:r>
            <a:endParaRPr lang="en-MX" sz="2500" dirty="0"/>
          </a:p>
        </p:txBody>
      </p:sp>
      <p:sp>
        <p:nvSpPr>
          <p:cNvPr id="16" name="TextBox 15">
            <a:extLst>
              <a:ext uri="{FF2B5EF4-FFF2-40B4-BE49-F238E27FC236}">
                <a16:creationId xmlns:a16="http://schemas.microsoft.com/office/drawing/2014/main" id="{25B2A8D7-2D5E-D4C9-D460-F28AB744A559}"/>
              </a:ext>
            </a:extLst>
          </p:cNvPr>
          <p:cNvSpPr txBox="1"/>
          <p:nvPr/>
        </p:nvSpPr>
        <p:spPr>
          <a:xfrm>
            <a:off x="679676" y="4597026"/>
            <a:ext cx="10910496" cy="861774"/>
          </a:xfrm>
          <a:prstGeom prst="rect">
            <a:avLst/>
          </a:prstGeom>
          <a:noFill/>
        </p:spPr>
        <p:txBody>
          <a:bodyPr wrap="square">
            <a:spAutoFit/>
          </a:bodyPr>
          <a:lstStyle/>
          <a:p>
            <a:r>
              <a:rPr lang="en-MX" sz="2500" kern="0" dirty="0">
                <a:solidFill>
                  <a:srgbClr val="000000"/>
                </a:solidFill>
                <a:effectLst/>
                <a:latin typeface="Arial" panose="020B0604020202020204" pitchFamily="34" charset="0"/>
                <a:ea typeface="Times New Roman" panose="02020603050405020304" pitchFamily="18" charset="0"/>
              </a:rPr>
              <a:t>- They will also need to apply the principles of effective goals for one of the lower-level goals.</a:t>
            </a:r>
            <a:r>
              <a:rPr lang="en-MX" sz="2500" dirty="0">
                <a:effectLst/>
              </a:rPr>
              <a:t> </a:t>
            </a:r>
            <a:endParaRPr lang="en-MX" sz="2500" dirty="0"/>
          </a:p>
        </p:txBody>
      </p:sp>
      <p:sp>
        <p:nvSpPr>
          <p:cNvPr id="18" name="TextBox 17">
            <a:extLst>
              <a:ext uri="{FF2B5EF4-FFF2-40B4-BE49-F238E27FC236}">
                <a16:creationId xmlns:a16="http://schemas.microsoft.com/office/drawing/2014/main" id="{83059D89-780D-1FD9-4BA6-F85DA770B332}"/>
              </a:ext>
            </a:extLst>
          </p:cNvPr>
          <p:cNvSpPr txBox="1"/>
          <p:nvPr/>
        </p:nvSpPr>
        <p:spPr>
          <a:xfrm>
            <a:off x="679676" y="5487361"/>
            <a:ext cx="10988346" cy="477054"/>
          </a:xfrm>
          <a:prstGeom prst="rect">
            <a:avLst/>
          </a:prstGeom>
          <a:noFill/>
        </p:spPr>
        <p:txBody>
          <a:bodyPr wrap="square">
            <a:spAutoFit/>
          </a:bodyPr>
          <a:lstStyle/>
          <a:p>
            <a:r>
              <a:rPr lang="en-MX" sz="2500" kern="0" dirty="0">
                <a:solidFill>
                  <a:srgbClr val="000000"/>
                </a:solidFill>
                <a:effectLst/>
                <a:latin typeface="Arial" panose="020B0604020202020204" pitchFamily="34" charset="0"/>
                <a:ea typeface="Times New Roman" panose="02020603050405020304" pitchFamily="18" charset="0"/>
              </a:rPr>
              <a:t>- 10 minutes to complete their assignment, then come back together.</a:t>
            </a:r>
            <a:r>
              <a:rPr lang="en-MX" sz="2500" dirty="0">
                <a:effectLst/>
              </a:rPr>
              <a:t> </a:t>
            </a:r>
            <a:endParaRPr lang="en-MX" sz="2500" dirty="0"/>
          </a:p>
        </p:txBody>
      </p:sp>
    </p:spTree>
    <p:extLst>
      <p:ext uri="{BB962C8B-B14F-4D97-AF65-F5344CB8AC3E}">
        <p14:creationId xmlns:p14="http://schemas.microsoft.com/office/powerpoint/2010/main" val="691680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BC0ABCE-788D-A574-D831-23AF9C524ADC}"/>
              </a:ext>
            </a:extLst>
          </p:cNvPr>
          <p:cNvGrpSpPr/>
          <p:nvPr/>
        </p:nvGrpSpPr>
        <p:grpSpPr>
          <a:xfrm>
            <a:off x="-15917" y="0"/>
            <a:ext cx="12216306" cy="6964636"/>
            <a:chOff x="-24306" y="0"/>
            <a:chExt cx="12216306" cy="6964636"/>
          </a:xfrm>
        </p:grpSpPr>
        <p:pic>
          <p:nvPicPr>
            <p:cNvPr id="10" name="Picture 9">
              <a:extLst>
                <a:ext uri="{FF2B5EF4-FFF2-40B4-BE49-F238E27FC236}">
                  <a16:creationId xmlns:a16="http://schemas.microsoft.com/office/drawing/2014/main" id="{973155AC-5644-19F7-3124-06BBD0E2FBA8}"/>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EE2FBC8F-DB7D-9A8C-95D9-EA21C7EB86FB}"/>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BCD19AF2-0CF7-4716-3543-2CB1ABAE9C92}"/>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DE19F30A-C277-153E-9C95-38A1926F483D}"/>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C15EF650-EA45-EF28-93FD-12F90FB0D84A}"/>
              </a:ext>
            </a:extLst>
          </p:cNvPr>
          <p:cNvSpPr/>
          <p:nvPr/>
        </p:nvSpPr>
        <p:spPr>
          <a:xfrm>
            <a:off x="601826" y="2079904"/>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 name="TextBox 3">
            <a:extLst>
              <a:ext uri="{FF2B5EF4-FFF2-40B4-BE49-F238E27FC236}">
                <a16:creationId xmlns:a16="http://schemas.microsoft.com/office/drawing/2014/main" id="{B0EA1CD7-BED2-1FE4-0576-AB73A3EF6C0B}"/>
              </a:ext>
            </a:extLst>
          </p:cNvPr>
          <p:cNvSpPr txBox="1"/>
          <p:nvPr/>
        </p:nvSpPr>
        <p:spPr>
          <a:xfrm>
            <a:off x="2927130" y="1174070"/>
            <a:ext cx="3800842" cy="769441"/>
          </a:xfrm>
          <a:prstGeom prst="rect">
            <a:avLst/>
          </a:prstGeom>
          <a:noFill/>
        </p:spPr>
        <p:txBody>
          <a:bodyPr wrap="square">
            <a:spAutoFit/>
          </a:bodyPr>
          <a:lstStyle/>
          <a:p>
            <a:r>
              <a:rPr lang="en-US" sz="4400" b="1" dirty="0">
                <a:latin typeface="+mj-lt"/>
                <a:ea typeface="+mj-ea"/>
                <a:cs typeface="+mj-cs"/>
              </a:rPr>
              <a:t>Class Activity</a:t>
            </a:r>
            <a:endParaRPr lang="en-MX" sz="4400" b="1" dirty="0">
              <a:latin typeface="+mj-lt"/>
              <a:ea typeface="+mj-ea"/>
              <a:cs typeface="+mj-cs"/>
            </a:endParaRPr>
          </a:p>
        </p:txBody>
      </p:sp>
      <p:sp>
        <p:nvSpPr>
          <p:cNvPr id="5" name="TextBox 4">
            <a:extLst>
              <a:ext uri="{FF2B5EF4-FFF2-40B4-BE49-F238E27FC236}">
                <a16:creationId xmlns:a16="http://schemas.microsoft.com/office/drawing/2014/main" id="{FB924805-8DBA-0DB5-D5A7-0B75ED9E3CB6}"/>
              </a:ext>
            </a:extLst>
          </p:cNvPr>
          <p:cNvSpPr txBox="1"/>
          <p:nvPr/>
        </p:nvSpPr>
        <p:spPr>
          <a:xfrm>
            <a:off x="1883185" y="2262016"/>
            <a:ext cx="2331969" cy="3693319"/>
          </a:xfrm>
          <a:prstGeom prst="rect">
            <a:avLst/>
          </a:prstGeom>
          <a:noFill/>
        </p:spPr>
        <p:txBody>
          <a:bodyPr wrap="square">
            <a:spAutoFit/>
          </a:bodyPr>
          <a:lstStyle/>
          <a:p>
            <a:r>
              <a:rPr lang="en-MX" dirty="0"/>
              <a:t>Group 1</a:t>
            </a:r>
          </a:p>
          <a:p>
            <a:endParaRPr lang="en-MX" dirty="0"/>
          </a:p>
          <a:p>
            <a:r>
              <a:rPr lang="en-MX" dirty="0"/>
              <a:t>Crispín del Angel</a:t>
            </a:r>
          </a:p>
          <a:p>
            <a:r>
              <a:rPr lang="en-MX" dirty="0"/>
              <a:t>Jessica Guevara</a:t>
            </a:r>
          </a:p>
          <a:p>
            <a:r>
              <a:rPr lang="en-MX" dirty="0"/>
              <a:t>Demian Ramirez</a:t>
            </a:r>
          </a:p>
          <a:p>
            <a:r>
              <a:rPr lang="en-MX" dirty="0"/>
              <a:t>Emily Uribe</a:t>
            </a:r>
          </a:p>
          <a:p>
            <a:r>
              <a:rPr lang="en-MX" dirty="0"/>
              <a:t>Gabriel Herrera</a:t>
            </a:r>
          </a:p>
          <a:p>
            <a:r>
              <a:rPr lang="en-MX" dirty="0"/>
              <a:t>kev</a:t>
            </a:r>
          </a:p>
          <a:p>
            <a:r>
              <a:rPr lang="en-MX" dirty="0"/>
              <a:t>Leilani Diaz</a:t>
            </a:r>
          </a:p>
          <a:p>
            <a:r>
              <a:rPr lang="en-MX" dirty="0"/>
              <a:t>Rodolfo Velasco</a:t>
            </a:r>
          </a:p>
          <a:p>
            <a:r>
              <a:rPr lang="en-MX" dirty="0"/>
              <a:t>Sailyn Valdivia</a:t>
            </a:r>
          </a:p>
          <a:p>
            <a:r>
              <a:rPr lang="en-MX" dirty="0"/>
              <a:t>Bere Rss</a:t>
            </a:r>
          </a:p>
          <a:p>
            <a:r>
              <a:rPr lang="en-MX" dirty="0"/>
              <a:t>Julio Celón</a:t>
            </a:r>
          </a:p>
        </p:txBody>
      </p:sp>
      <p:sp>
        <p:nvSpPr>
          <p:cNvPr id="8" name="TextBox 7">
            <a:extLst>
              <a:ext uri="{FF2B5EF4-FFF2-40B4-BE49-F238E27FC236}">
                <a16:creationId xmlns:a16="http://schemas.microsoft.com/office/drawing/2014/main" id="{42F74DE9-7984-40BF-C80B-297FB080BCA0}"/>
              </a:ext>
            </a:extLst>
          </p:cNvPr>
          <p:cNvSpPr txBox="1"/>
          <p:nvPr/>
        </p:nvSpPr>
        <p:spPr>
          <a:xfrm>
            <a:off x="5483255" y="2331514"/>
            <a:ext cx="2489433" cy="3693319"/>
          </a:xfrm>
          <a:prstGeom prst="rect">
            <a:avLst/>
          </a:prstGeom>
          <a:noFill/>
        </p:spPr>
        <p:txBody>
          <a:bodyPr wrap="square">
            <a:spAutoFit/>
          </a:bodyPr>
          <a:lstStyle/>
          <a:p>
            <a:r>
              <a:rPr lang="en-MX" dirty="0"/>
              <a:t>Group 2</a:t>
            </a:r>
          </a:p>
          <a:p>
            <a:endParaRPr lang="en-MX" dirty="0"/>
          </a:p>
          <a:p>
            <a:r>
              <a:rPr lang="en-MX" dirty="0"/>
              <a:t>Alejandro Perez</a:t>
            </a:r>
          </a:p>
          <a:p>
            <a:r>
              <a:rPr lang="en-MX" dirty="0"/>
              <a:t>Gerardo Martínez</a:t>
            </a:r>
          </a:p>
          <a:p>
            <a:r>
              <a:rPr lang="en-MX" dirty="0"/>
              <a:t>Leilani Flores</a:t>
            </a:r>
          </a:p>
          <a:p>
            <a:r>
              <a:rPr lang="en-MX" dirty="0"/>
              <a:t>Demian Ramirez</a:t>
            </a:r>
          </a:p>
          <a:p>
            <a:r>
              <a:rPr lang="en-MX" dirty="0"/>
              <a:t>Iyari Lozano</a:t>
            </a:r>
          </a:p>
          <a:p>
            <a:r>
              <a:rPr lang="en-MX" dirty="0"/>
              <a:t>Jacky Anzo</a:t>
            </a:r>
          </a:p>
          <a:p>
            <a:r>
              <a:rPr lang="en-MX" dirty="0"/>
              <a:t>Nokile Flores</a:t>
            </a:r>
          </a:p>
          <a:p>
            <a:r>
              <a:rPr lang="en-MX" dirty="0"/>
              <a:t>Rox Basurto</a:t>
            </a:r>
          </a:p>
          <a:p>
            <a:r>
              <a:rPr lang="en-MX" dirty="0"/>
              <a:t>Ulises Jesus</a:t>
            </a:r>
          </a:p>
          <a:p>
            <a:r>
              <a:rPr lang="en-MX" dirty="0"/>
              <a:t>Idel Hernandez</a:t>
            </a:r>
          </a:p>
          <a:p>
            <a:r>
              <a:rPr lang="en-MX" dirty="0"/>
              <a:t>Gustavo Tadeo</a:t>
            </a:r>
          </a:p>
        </p:txBody>
      </p:sp>
    </p:spTree>
    <p:extLst>
      <p:ext uri="{BB962C8B-B14F-4D97-AF65-F5344CB8AC3E}">
        <p14:creationId xmlns:p14="http://schemas.microsoft.com/office/powerpoint/2010/main" val="2731547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BC0ABCE-788D-A574-D831-23AF9C524ADC}"/>
              </a:ext>
            </a:extLst>
          </p:cNvPr>
          <p:cNvGrpSpPr/>
          <p:nvPr/>
        </p:nvGrpSpPr>
        <p:grpSpPr>
          <a:xfrm>
            <a:off x="-24306" y="0"/>
            <a:ext cx="12216306" cy="6964636"/>
            <a:chOff x="-24306" y="0"/>
            <a:chExt cx="12216306" cy="6964636"/>
          </a:xfrm>
        </p:grpSpPr>
        <p:pic>
          <p:nvPicPr>
            <p:cNvPr id="10" name="Picture 9">
              <a:extLst>
                <a:ext uri="{FF2B5EF4-FFF2-40B4-BE49-F238E27FC236}">
                  <a16:creationId xmlns:a16="http://schemas.microsoft.com/office/drawing/2014/main" id="{973155AC-5644-19F7-3124-06BBD0E2FBA8}"/>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EE2FBC8F-DB7D-9A8C-95D9-EA21C7EB86FB}"/>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BCD19AF2-0CF7-4716-3543-2CB1ABAE9C92}"/>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DE19F30A-C277-153E-9C95-38A1926F483D}"/>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C15EF650-EA45-EF28-93FD-12F90FB0D84A}"/>
              </a:ext>
            </a:extLst>
          </p:cNvPr>
          <p:cNvSpPr/>
          <p:nvPr/>
        </p:nvSpPr>
        <p:spPr>
          <a:xfrm>
            <a:off x="2554015" y="1054734"/>
            <a:ext cx="9637986"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5" name="TextBox 4">
            <a:extLst>
              <a:ext uri="{FF2B5EF4-FFF2-40B4-BE49-F238E27FC236}">
                <a16:creationId xmlns:a16="http://schemas.microsoft.com/office/drawing/2014/main" id="{F86193CD-3D06-896A-69B0-0F4AB8F0EBC3}"/>
              </a:ext>
            </a:extLst>
          </p:cNvPr>
          <p:cNvSpPr txBox="1"/>
          <p:nvPr/>
        </p:nvSpPr>
        <p:spPr>
          <a:xfrm>
            <a:off x="224469" y="2001414"/>
            <a:ext cx="11743062" cy="4708981"/>
          </a:xfrm>
          <a:prstGeom prst="rect">
            <a:avLst/>
          </a:prstGeom>
          <a:noFill/>
        </p:spPr>
        <p:txBody>
          <a:bodyPr wrap="square">
            <a:spAutoFit/>
          </a:bodyPr>
          <a:lstStyle/>
          <a:p>
            <a:pPr rtl="0">
              <a:spcBef>
                <a:spcPts val="0"/>
              </a:spcBef>
              <a:spcAft>
                <a:spcPts val="0"/>
              </a:spcAft>
            </a:pPr>
            <a:r>
              <a:rPr lang="en-US" sz="1500" b="0" i="0" u="none" strike="noStrike" dirty="0">
                <a:solidFill>
                  <a:srgbClr val="000000"/>
                </a:solidFill>
                <a:effectLst/>
                <a:latin typeface="Arial" panose="020B0604020202020204" pitchFamily="34" charset="0"/>
              </a:rPr>
              <a:t>Stan has wanted to cut back on his electronic usage (video games and social media usage) for years, but he hasn’t been able to successfully do so yet. This is because he doesn’t have a motivating top-level goal. A top-level goal needs to be motivating and remind Stan of what achieving this goal might feel and look like for him and those closest to him. It needs to be simple enough for him to remember and yet specific enough that it reminds him of why he wants to cut back on his electronic usage.  </a:t>
            </a:r>
            <a:endParaRPr lang="en-US" sz="1500" b="0" dirty="0">
              <a:effectLst/>
            </a:endParaRPr>
          </a:p>
          <a:p>
            <a:pPr rtl="0" fontAlgn="base">
              <a:spcBef>
                <a:spcPts val="0"/>
              </a:spcBef>
              <a:spcAft>
                <a:spcPts val="0"/>
              </a:spcAft>
              <a:buFont typeface="Arial" panose="020B0604020202020204" pitchFamily="34" charset="0"/>
              <a:buChar char="•"/>
            </a:pPr>
            <a:r>
              <a:rPr lang="en-US" sz="1500" i="0" u="none" strike="noStrike" dirty="0">
                <a:solidFill>
                  <a:srgbClr val="000000"/>
                </a:solidFill>
                <a:latin typeface="Arial" panose="020B0604020202020204" pitchFamily="34" charset="0"/>
              </a:rPr>
              <a:t> </a:t>
            </a:r>
            <a:r>
              <a:rPr lang="en-US" sz="1500" b="0" i="0" u="none" strike="noStrike" dirty="0">
                <a:solidFill>
                  <a:srgbClr val="000000"/>
                </a:solidFill>
                <a:effectLst/>
                <a:latin typeface="Arial" panose="020B0604020202020204" pitchFamily="34" charset="0"/>
              </a:rPr>
              <a:t>What would be a good top-level goal for </a:t>
            </a:r>
            <a:r>
              <a:rPr lang="en-US" sz="1500" b="0" i="0" u="none" strike="noStrike" dirty="0" err="1">
                <a:solidFill>
                  <a:srgbClr val="000000"/>
                </a:solidFill>
                <a:effectLst/>
                <a:latin typeface="Arial" panose="020B0604020202020204" pitchFamily="34" charset="0"/>
              </a:rPr>
              <a:t>Stan?_save</a:t>
            </a:r>
            <a:r>
              <a:rPr lang="en-US" sz="1500" b="0" i="0" u="none" strike="noStrike" dirty="0">
                <a:solidFill>
                  <a:srgbClr val="000000"/>
                </a:solidFill>
                <a:effectLst/>
                <a:latin typeface="Arial" panose="020B0604020202020204" pitchFamily="34" charset="0"/>
              </a:rPr>
              <a:t> money for a bigger specific </a:t>
            </a:r>
            <a:r>
              <a:rPr lang="en-US" sz="1500" b="0" i="0" u="none" strike="noStrike" dirty="0" err="1">
                <a:solidFill>
                  <a:srgbClr val="000000"/>
                </a:solidFill>
                <a:effectLst/>
                <a:latin typeface="Arial" panose="020B0604020202020204" pitchFamily="34" charset="0"/>
              </a:rPr>
              <a:t>porpuse</a:t>
            </a:r>
            <a:r>
              <a:rPr lang="en-US" sz="1500" b="0" i="0" u="none" strike="noStrike" dirty="0">
                <a:solidFill>
                  <a:srgbClr val="000000"/>
                </a:solidFill>
                <a:effectLst/>
                <a:latin typeface="Arial" panose="020B0604020202020204" pitchFamily="34" charset="0"/>
              </a:rPr>
              <a:t> // spending more time with God _________</a:t>
            </a:r>
          </a:p>
          <a:p>
            <a:pPr rtl="0">
              <a:spcBef>
                <a:spcPts val="0"/>
              </a:spcBef>
              <a:spcAft>
                <a:spcPts val="0"/>
              </a:spcAft>
            </a:pPr>
            <a:br>
              <a:rPr lang="en-US" sz="1500" b="0" dirty="0">
                <a:effectLst/>
              </a:rPr>
            </a:br>
            <a:r>
              <a:rPr lang="en-US" sz="1500" b="0" i="0" u="none" strike="noStrike" dirty="0">
                <a:solidFill>
                  <a:srgbClr val="000000"/>
                </a:solidFill>
                <a:effectLst/>
                <a:latin typeface="Arial" panose="020B0604020202020204" pitchFamily="34" charset="0"/>
              </a:rPr>
              <a:t>Setting a top-level goal is not enough. It establishes the “why” and desired end-result of the goal, but it does not answer the “how.” How will Stan cut back on his electronic usage? What concrete steps can he take now to start cutting back?  </a:t>
            </a:r>
            <a:endParaRPr lang="en-US" sz="1500" b="0" dirty="0">
              <a:effectLst/>
            </a:endParaRPr>
          </a:p>
          <a:p>
            <a:pPr rtl="0" fontAlgn="base">
              <a:spcBef>
                <a:spcPts val="0"/>
              </a:spcBef>
              <a:spcAft>
                <a:spcPts val="0"/>
              </a:spcAft>
              <a:buFont typeface="Arial" panose="020B0604020202020204" pitchFamily="34" charset="0"/>
              <a:buChar char="•"/>
            </a:pPr>
            <a:r>
              <a:rPr lang="en-US" sz="1500" i="0" u="none" strike="noStrike" dirty="0">
                <a:solidFill>
                  <a:srgbClr val="000000"/>
                </a:solidFill>
                <a:latin typeface="Arial" panose="020B0604020202020204" pitchFamily="34" charset="0"/>
              </a:rPr>
              <a:t> </a:t>
            </a:r>
            <a:r>
              <a:rPr lang="en-US" sz="1500" b="0" i="0" u="none" strike="noStrike" dirty="0">
                <a:solidFill>
                  <a:srgbClr val="000000"/>
                </a:solidFill>
                <a:effectLst/>
                <a:latin typeface="Arial" panose="020B0604020202020204" pitchFamily="34" charset="0"/>
              </a:rPr>
              <a:t>List two good lower-level goals for Stan__________</a:t>
            </a:r>
          </a:p>
          <a:p>
            <a:pPr rtl="0" fontAlgn="base">
              <a:spcBef>
                <a:spcPts val="0"/>
              </a:spcBef>
              <a:spcAft>
                <a:spcPts val="0"/>
              </a:spcAft>
              <a:buFont typeface="Arial" panose="020B0604020202020204" pitchFamily="34" charset="0"/>
              <a:buChar char="•"/>
            </a:pPr>
            <a:r>
              <a:rPr lang="en-US" sz="1500" b="0" i="0" u="none" strike="noStrike" dirty="0">
                <a:solidFill>
                  <a:srgbClr val="000000"/>
                </a:solidFill>
                <a:effectLst/>
                <a:latin typeface="Arial" panose="020B0604020202020204" pitchFamily="34" charset="0"/>
              </a:rPr>
              <a:t>Find a job</a:t>
            </a:r>
          </a:p>
          <a:p>
            <a:pPr rtl="0" fontAlgn="base">
              <a:spcBef>
                <a:spcPts val="0"/>
              </a:spcBef>
              <a:spcAft>
                <a:spcPts val="0"/>
              </a:spcAft>
              <a:buFont typeface="Arial" panose="020B0604020202020204" pitchFamily="34" charset="0"/>
              <a:buChar char="•"/>
            </a:pPr>
            <a:r>
              <a:rPr lang="en-US" sz="1500" dirty="0">
                <a:solidFill>
                  <a:srgbClr val="000000"/>
                </a:solidFill>
                <a:latin typeface="Arial" panose="020B0604020202020204" pitchFamily="34" charset="0"/>
              </a:rPr>
              <a:t>Have a budget</a:t>
            </a:r>
            <a:endParaRPr lang="en-US" sz="15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US" sz="1500" dirty="0">
                <a:solidFill>
                  <a:srgbClr val="000000"/>
                </a:solidFill>
                <a:latin typeface="Arial" panose="020B0604020202020204" pitchFamily="34" charset="0"/>
              </a:rPr>
              <a:t>Change his activities for going to institute each week</a:t>
            </a:r>
            <a:endParaRPr lang="en-US" sz="1500" b="0" i="0" u="none" strike="noStrike" dirty="0">
              <a:solidFill>
                <a:srgbClr val="000000"/>
              </a:solidFill>
              <a:effectLst/>
              <a:latin typeface="Arial" panose="020B0604020202020204" pitchFamily="34" charset="0"/>
            </a:endParaRPr>
          </a:p>
          <a:p>
            <a:pPr rtl="0">
              <a:spcBef>
                <a:spcPts val="0"/>
              </a:spcBef>
              <a:spcAft>
                <a:spcPts val="0"/>
              </a:spcAft>
            </a:pPr>
            <a:br>
              <a:rPr lang="en-US" sz="1500" b="0" dirty="0">
                <a:effectLst/>
              </a:rPr>
            </a:br>
            <a:r>
              <a:rPr lang="en-US" sz="1500" b="0" i="0" u="none" strike="noStrike" dirty="0">
                <a:solidFill>
                  <a:srgbClr val="000000"/>
                </a:solidFill>
                <a:effectLst/>
                <a:latin typeface="Arial" panose="020B0604020202020204" pitchFamily="34" charset="0"/>
              </a:rPr>
              <a:t>Select one of those lower-level goals and apply the principles of effective goals below:</a:t>
            </a:r>
            <a:endParaRPr lang="en-US" sz="1500" b="0" dirty="0">
              <a:effectLst/>
            </a:endParaRPr>
          </a:p>
          <a:p>
            <a:pPr rtl="0" fontAlgn="base">
              <a:spcBef>
                <a:spcPts val="0"/>
              </a:spcBef>
              <a:spcAft>
                <a:spcPts val="0"/>
              </a:spcAft>
            </a:pPr>
            <a:br>
              <a:rPr lang="en-US" sz="1500" b="0" dirty="0">
                <a:effectLst/>
              </a:rPr>
            </a:br>
            <a:r>
              <a:rPr lang="en-US" sz="1500" b="1" i="0" u="none" strike="noStrike" dirty="0">
                <a:solidFill>
                  <a:srgbClr val="000000"/>
                </a:solidFill>
                <a:effectLst/>
                <a:latin typeface="Arial" panose="020B0604020202020204" pitchFamily="34" charset="0"/>
              </a:rPr>
              <a:t>Specific.</a:t>
            </a:r>
            <a:r>
              <a:rPr lang="en-US" sz="1500" b="0" i="0" u="none" strike="noStrike" dirty="0">
                <a:solidFill>
                  <a:srgbClr val="000000"/>
                </a:solidFill>
                <a:effectLst/>
                <a:latin typeface="Arial" panose="020B0604020202020204" pitchFamily="34" charset="0"/>
              </a:rPr>
              <a:t> What will be the specific result of your goal? __________</a:t>
            </a:r>
          </a:p>
          <a:p>
            <a:pPr rtl="0" fontAlgn="base">
              <a:spcBef>
                <a:spcPts val="0"/>
              </a:spcBef>
              <a:spcAft>
                <a:spcPts val="0"/>
              </a:spcAft>
              <a:buFont typeface="Arial" panose="020B0604020202020204" pitchFamily="34" charset="0"/>
              <a:buChar char="•"/>
            </a:pPr>
            <a:r>
              <a:rPr lang="en-US" sz="1500" b="1" i="0" u="none" strike="noStrike" dirty="0">
                <a:solidFill>
                  <a:srgbClr val="000000"/>
                </a:solidFill>
                <a:effectLst/>
                <a:latin typeface="Arial" panose="020B0604020202020204" pitchFamily="34" charset="0"/>
              </a:rPr>
              <a:t>Measurable.</a:t>
            </a:r>
            <a:r>
              <a:rPr lang="en-US" sz="1500" b="0" i="0" u="none" strike="noStrike" dirty="0">
                <a:solidFill>
                  <a:srgbClr val="000000"/>
                </a:solidFill>
                <a:effectLst/>
                <a:latin typeface="Arial" panose="020B0604020202020204" pitchFamily="34" charset="0"/>
              </a:rPr>
              <a:t> How will you measure your progress?__________</a:t>
            </a:r>
          </a:p>
          <a:p>
            <a:pPr rtl="0" fontAlgn="base">
              <a:spcBef>
                <a:spcPts val="0"/>
              </a:spcBef>
              <a:spcAft>
                <a:spcPts val="0"/>
              </a:spcAft>
              <a:buFont typeface="Arial" panose="020B0604020202020204" pitchFamily="34" charset="0"/>
              <a:buChar char="•"/>
            </a:pPr>
            <a:r>
              <a:rPr lang="en-US" sz="1500" b="1" i="0" u="none" strike="noStrike" dirty="0">
                <a:solidFill>
                  <a:srgbClr val="000000"/>
                </a:solidFill>
                <a:effectLst/>
                <a:latin typeface="Arial" panose="020B0604020202020204" pitchFamily="34" charset="0"/>
              </a:rPr>
              <a:t>Actionable.</a:t>
            </a:r>
            <a:r>
              <a:rPr lang="en-US" sz="1500" b="0" i="0" u="none" strike="noStrike" dirty="0">
                <a:solidFill>
                  <a:srgbClr val="000000"/>
                </a:solidFill>
                <a:effectLst/>
                <a:latin typeface="Arial" panose="020B0604020202020204" pitchFamily="34" charset="0"/>
              </a:rPr>
              <a:t> Will you be able to achieve this goal? __________</a:t>
            </a:r>
          </a:p>
          <a:p>
            <a:pPr rtl="0" fontAlgn="base">
              <a:spcBef>
                <a:spcPts val="0"/>
              </a:spcBef>
              <a:spcAft>
                <a:spcPts val="0"/>
              </a:spcAft>
              <a:buFont typeface="Arial" panose="020B0604020202020204" pitchFamily="34" charset="0"/>
              <a:buChar char="•"/>
            </a:pPr>
            <a:r>
              <a:rPr lang="en-US" sz="1500" b="1" i="0" u="none" strike="noStrike" dirty="0">
                <a:solidFill>
                  <a:srgbClr val="000000"/>
                </a:solidFill>
                <a:effectLst/>
                <a:latin typeface="Arial" panose="020B0604020202020204" pitchFamily="34" charset="0"/>
              </a:rPr>
              <a:t>Relevant.</a:t>
            </a:r>
            <a:r>
              <a:rPr lang="en-US" sz="1500" b="0" i="0" u="none" strike="noStrike" dirty="0">
                <a:solidFill>
                  <a:srgbClr val="000000"/>
                </a:solidFill>
                <a:effectLst/>
                <a:latin typeface="Arial" panose="020B0604020202020204" pitchFamily="34" charset="0"/>
              </a:rPr>
              <a:t> How does this goal support a mid-level or top-level goal? __________</a:t>
            </a:r>
          </a:p>
          <a:p>
            <a:pPr rtl="0" fontAlgn="base">
              <a:spcBef>
                <a:spcPts val="0"/>
              </a:spcBef>
              <a:spcAft>
                <a:spcPts val="0"/>
              </a:spcAft>
              <a:buFont typeface="Arial" panose="020B0604020202020204" pitchFamily="34" charset="0"/>
              <a:buChar char="•"/>
            </a:pPr>
            <a:r>
              <a:rPr lang="en-US" sz="1500" b="1" i="0" u="none" strike="noStrike" dirty="0">
                <a:solidFill>
                  <a:srgbClr val="000000"/>
                </a:solidFill>
                <a:effectLst/>
                <a:latin typeface="Arial" panose="020B0604020202020204" pitchFamily="34" charset="0"/>
              </a:rPr>
              <a:t>Time Bound. </a:t>
            </a:r>
            <a:r>
              <a:rPr lang="en-US" sz="1500" b="0" i="0" u="none" strike="noStrike" dirty="0">
                <a:solidFill>
                  <a:srgbClr val="000000"/>
                </a:solidFill>
                <a:effectLst/>
                <a:latin typeface="Arial" panose="020B0604020202020204" pitchFamily="34" charset="0"/>
              </a:rPr>
              <a:t>What is the specific date when you will accomplish this goal? __________</a:t>
            </a:r>
            <a:endParaRPr lang="en-US" sz="1500" b="1" i="0" u="none" strike="noStrike" dirty="0">
              <a:solidFill>
                <a:srgbClr val="000000"/>
              </a:solidFill>
              <a:effectLst/>
              <a:latin typeface="Arial" panose="020B0604020202020204" pitchFamily="34" charset="0"/>
            </a:endParaRPr>
          </a:p>
        </p:txBody>
      </p:sp>
      <p:sp>
        <p:nvSpPr>
          <p:cNvPr id="8" name="TextBox 7">
            <a:extLst>
              <a:ext uri="{FF2B5EF4-FFF2-40B4-BE49-F238E27FC236}">
                <a16:creationId xmlns:a16="http://schemas.microsoft.com/office/drawing/2014/main" id="{AACD0039-42B6-9987-7294-6E02B2F975E7}"/>
              </a:ext>
            </a:extLst>
          </p:cNvPr>
          <p:cNvSpPr txBox="1"/>
          <p:nvPr/>
        </p:nvSpPr>
        <p:spPr>
          <a:xfrm>
            <a:off x="2913077" y="255756"/>
            <a:ext cx="6111380" cy="707886"/>
          </a:xfrm>
          <a:prstGeom prst="rect">
            <a:avLst/>
          </a:prstGeom>
          <a:noFill/>
        </p:spPr>
        <p:txBody>
          <a:bodyPr wrap="square">
            <a:spAutoFit/>
          </a:bodyPr>
          <a:lstStyle/>
          <a:p>
            <a:pPr rtl="0">
              <a:spcBef>
                <a:spcPts val="2000"/>
              </a:spcBef>
              <a:spcAft>
                <a:spcPts val="600"/>
              </a:spcAft>
            </a:pPr>
            <a:r>
              <a:rPr lang="en-US" sz="4000" b="1" i="0" u="none" strike="noStrike" dirty="0">
                <a:solidFill>
                  <a:srgbClr val="000000"/>
                </a:solidFill>
                <a:effectLst/>
                <a:latin typeface="Arial" panose="020B0604020202020204" pitchFamily="34" charset="0"/>
              </a:rPr>
              <a:t>Stan Scenario #1</a:t>
            </a:r>
            <a:endParaRPr lang="en-US" sz="4000" b="1" dirty="0">
              <a:effectLst/>
            </a:endParaRPr>
          </a:p>
        </p:txBody>
      </p:sp>
    </p:spTree>
    <p:extLst>
      <p:ext uri="{BB962C8B-B14F-4D97-AF65-F5344CB8AC3E}">
        <p14:creationId xmlns:p14="http://schemas.microsoft.com/office/powerpoint/2010/main" val="4204785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BC0ABCE-788D-A574-D831-23AF9C524ADC}"/>
              </a:ext>
            </a:extLst>
          </p:cNvPr>
          <p:cNvGrpSpPr/>
          <p:nvPr/>
        </p:nvGrpSpPr>
        <p:grpSpPr>
          <a:xfrm>
            <a:off x="-24306" y="0"/>
            <a:ext cx="12216306" cy="6964636"/>
            <a:chOff x="-24306" y="0"/>
            <a:chExt cx="12216306" cy="6964636"/>
          </a:xfrm>
        </p:grpSpPr>
        <p:pic>
          <p:nvPicPr>
            <p:cNvPr id="10" name="Picture 9">
              <a:extLst>
                <a:ext uri="{FF2B5EF4-FFF2-40B4-BE49-F238E27FC236}">
                  <a16:creationId xmlns:a16="http://schemas.microsoft.com/office/drawing/2014/main" id="{973155AC-5644-19F7-3124-06BBD0E2FBA8}"/>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EE2FBC8F-DB7D-9A8C-95D9-EA21C7EB86FB}"/>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BCD19AF2-0CF7-4716-3543-2CB1ABAE9C92}"/>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DE19F30A-C277-153E-9C95-38A1926F483D}"/>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C15EF650-EA45-EF28-93FD-12F90FB0D84A}"/>
              </a:ext>
            </a:extLst>
          </p:cNvPr>
          <p:cNvSpPr/>
          <p:nvPr/>
        </p:nvSpPr>
        <p:spPr>
          <a:xfrm>
            <a:off x="2554015" y="1054734"/>
            <a:ext cx="9637986"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8" name="TextBox 7">
            <a:extLst>
              <a:ext uri="{FF2B5EF4-FFF2-40B4-BE49-F238E27FC236}">
                <a16:creationId xmlns:a16="http://schemas.microsoft.com/office/drawing/2014/main" id="{AACD0039-42B6-9987-7294-6E02B2F975E7}"/>
              </a:ext>
            </a:extLst>
          </p:cNvPr>
          <p:cNvSpPr txBox="1"/>
          <p:nvPr/>
        </p:nvSpPr>
        <p:spPr>
          <a:xfrm>
            <a:off x="2913077" y="255756"/>
            <a:ext cx="6111380" cy="707886"/>
          </a:xfrm>
          <a:prstGeom prst="rect">
            <a:avLst/>
          </a:prstGeom>
          <a:noFill/>
        </p:spPr>
        <p:txBody>
          <a:bodyPr wrap="square">
            <a:spAutoFit/>
          </a:bodyPr>
          <a:lstStyle/>
          <a:p>
            <a:pPr rtl="0">
              <a:spcBef>
                <a:spcPts val="2000"/>
              </a:spcBef>
              <a:spcAft>
                <a:spcPts val="600"/>
              </a:spcAft>
            </a:pPr>
            <a:r>
              <a:rPr lang="en-US" sz="4000" b="1" i="0" u="none" strike="noStrike" dirty="0">
                <a:solidFill>
                  <a:srgbClr val="000000"/>
                </a:solidFill>
                <a:effectLst/>
                <a:latin typeface="Arial" panose="020B0604020202020204" pitchFamily="34" charset="0"/>
              </a:rPr>
              <a:t>Stan Scenario #2</a:t>
            </a:r>
            <a:endParaRPr lang="en-US" sz="4000" b="1" dirty="0">
              <a:effectLst/>
            </a:endParaRPr>
          </a:p>
        </p:txBody>
      </p:sp>
      <p:sp>
        <p:nvSpPr>
          <p:cNvPr id="3" name="TextBox 2">
            <a:extLst>
              <a:ext uri="{FF2B5EF4-FFF2-40B4-BE49-F238E27FC236}">
                <a16:creationId xmlns:a16="http://schemas.microsoft.com/office/drawing/2014/main" id="{82186455-C3E6-707C-2643-1C390E8CECB3}"/>
              </a:ext>
            </a:extLst>
          </p:cNvPr>
          <p:cNvSpPr txBox="1"/>
          <p:nvPr/>
        </p:nvSpPr>
        <p:spPr>
          <a:xfrm>
            <a:off x="203164" y="1885998"/>
            <a:ext cx="11761365" cy="4247317"/>
          </a:xfrm>
          <a:prstGeom prst="rect">
            <a:avLst/>
          </a:prstGeom>
          <a:noFill/>
        </p:spPr>
        <p:txBody>
          <a:bodyPr wrap="square">
            <a:spAutoFit/>
          </a:bodyPr>
          <a:lstStyle/>
          <a:p>
            <a:pPr rtl="0">
              <a:spcBef>
                <a:spcPts val="0"/>
              </a:spcBef>
              <a:spcAft>
                <a:spcPts val="0"/>
              </a:spcAft>
            </a:pPr>
            <a:r>
              <a:rPr lang="en-US" sz="1500" b="0" i="0" u="none" strike="noStrike" dirty="0">
                <a:solidFill>
                  <a:srgbClr val="000000"/>
                </a:solidFill>
                <a:effectLst/>
                <a:latin typeface="Arial" panose="020B0604020202020204" pitchFamily="34" charset="0"/>
              </a:rPr>
              <a:t>Stan has wanted to cut back on his spending and get out of debt for years, but he hasn’t been able to successfully do so yet. This is because he doesn’t have a motivating top-level goal. A top-level goal needs to be motivating and remind Stan of what achieving this goal might feel and look like for him and those closest to him. It needs to be simple enough for him to remember and yet specific enough that it reminds him of why he wants to cut back on his spending and get out of debt.</a:t>
            </a:r>
            <a:endParaRPr lang="en-US" sz="1500" b="0" dirty="0">
              <a:effectLst/>
            </a:endParaRPr>
          </a:p>
          <a:p>
            <a:pPr rtl="0" fontAlgn="base">
              <a:spcBef>
                <a:spcPts val="0"/>
              </a:spcBef>
              <a:spcAft>
                <a:spcPts val="0"/>
              </a:spcAft>
              <a:buFont typeface="Arial" panose="020B0604020202020204" pitchFamily="34" charset="0"/>
              <a:buChar char="•"/>
            </a:pPr>
            <a:r>
              <a:rPr lang="en-US" sz="1500" i="0" u="none" strike="noStrike" dirty="0">
                <a:solidFill>
                  <a:srgbClr val="000000"/>
                </a:solidFill>
                <a:latin typeface="Arial" panose="020B0604020202020204" pitchFamily="34" charset="0"/>
              </a:rPr>
              <a:t> </a:t>
            </a:r>
            <a:r>
              <a:rPr lang="en-US" sz="1500" b="0" i="0" u="none" strike="noStrike" dirty="0">
                <a:solidFill>
                  <a:srgbClr val="000000"/>
                </a:solidFill>
                <a:effectLst/>
                <a:latin typeface="Arial" panose="020B0604020202020204" pitchFamily="34" charset="0"/>
              </a:rPr>
              <a:t>What would be a good top-level goal for Stan?__________</a:t>
            </a:r>
          </a:p>
          <a:p>
            <a:pPr rtl="0">
              <a:spcBef>
                <a:spcPts val="0"/>
              </a:spcBef>
              <a:spcAft>
                <a:spcPts val="0"/>
              </a:spcAft>
            </a:pPr>
            <a:br>
              <a:rPr lang="en-US" sz="1500" b="0" dirty="0">
                <a:effectLst/>
              </a:rPr>
            </a:br>
            <a:r>
              <a:rPr lang="en-US" sz="1500" b="0" i="0" u="none" strike="noStrike" dirty="0">
                <a:solidFill>
                  <a:srgbClr val="000000"/>
                </a:solidFill>
                <a:effectLst/>
                <a:latin typeface="Arial" panose="020B0604020202020204" pitchFamily="34" charset="0"/>
              </a:rPr>
              <a:t>Setting a top-level goal is not enough. It establishes the “why” and desired end-result of the goal, but it does not answer the “how.” How will Stan cut back on his spending and get out of debt? What concrete steps can he take now to start budgeting better and get out of debt? </a:t>
            </a:r>
            <a:endParaRPr lang="en-US" sz="1500" b="0" dirty="0">
              <a:effectLst/>
            </a:endParaRPr>
          </a:p>
          <a:p>
            <a:pPr rtl="0" fontAlgn="base">
              <a:spcBef>
                <a:spcPts val="0"/>
              </a:spcBef>
              <a:spcAft>
                <a:spcPts val="0"/>
              </a:spcAft>
              <a:buFont typeface="Arial" panose="020B0604020202020204" pitchFamily="34" charset="0"/>
              <a:buChar char="•"/>
            </a:pPr>
            <a:r>
              <a:rPr lang="en-US" sz="1500" i="0" u="none" strike="noStrike" dirty="0">
                <a:solidFill>
                  <a:srgbClr val="000000"/>
                </a:solidFill>
                <a:latin typeface="Arial" panose="020B0604020202020204" pitchFamily="34" charset="0"/>
              </a:rPr>
              <a:t> </a:t>
            </a:r>
            <a:r>
              <a:rPr lang="en-US" sz="1500" b="0" i="0" u="none" strike="noStrike" dirty="0">
                <a:solidFill>
                  <a:srgbClr val="000000"/>
                </a:solidFill>
                <a:effectLst/>
                <a:latin typeface="Arial" panose="020B0604020202020204" pitchFamily="34" charset="0"/>
              </a:rPr>
              <a:t>List two good lower-level goals for Stan__________</a:t>
            </a:r>
          </a:p>
          <a:p>
            <a:pPr rtl="0">
              <a:spcBef>
                <a:spcPts val="0"/>
              </a:spcBef>
              <a:spcAft>
                <a:spcPts val="0"/>
              </a:spcAft>
            </a:pPr>
            <a:br>
              <a:rPr lang="en-US" sz="1500" b="0" dirty="0">
                <a:effectLst/>
              </a:rPr>
            </a:br>
            <a:r>
              <a:rPr lang="en-US" sz="1500" b="0" i="0" u="none" strike="noStrike" dirty="0">
                <a:solidFill>
                  <a:srgbClr val="000000"/>
                </a:solidFill>
                <a:effectLst/>
                <a:latin typeface="Arial" panose="020B0604020202020204" pitchFamily="34" charset="0"/>
              </a:rPr>
              <a:t>Select one of those lower-level goals and apply the principles of effective goals below:</a:t>
            </a:r>
            <a:endParaRPr lang="en-US" sz="1500" i="0" u="none" strike="noStrike" dirty="0">
              <a:solidFill>
                <a:srgbClr val="000000"/>
              </a:solidFill>
              <a:latin typeface="Arial" panose="020B0604020202020204" pitchFamily="34" charset="0"/>
            </a:endParaRPr>
          </a:p>
          <a:p>
            <a:pPr rtl="0">
              <a:spcBef>
                <a:spcPts val="0"/>
              </a:spcBef>
              <a:spcAft>
                <a:spcPts val="0"/>
              </a:spcAft>
            </a:pPr>
            <a:br>
              <a:rPr lang="en-US" sz="1500" b="0" dirty="0">
                <a:effectLst/>
              </a:rPr>
            </a:br>
            <a:r>
              <a:rPr lang="en-US" sz="1500" b="1" i="0" u="none" strike="noStrike" dirty="0">
                <a:solidFill>
                  <a:srgbClr val="000000"/>
                </a:solidFill>
                <a:effectLst/>
                <a:latin typeface="Arial" panose="020B0604020202020204" pitchFamily="34" charset="0"/>
              </a:rPr>
              <a:t>Specific.</a:t>
            </a:r>
            <a:r>
              <a:rPr lang="en-US" sz="1500" b="0" i="0" u="none" strike="noStrike" dirty="0">
                <a:solidFill>
                  <a:srgbClr val="000000"/>
                </a:solidFill>
                <a:effectLst/>
                <a:latin typeface="Arial" panose="020B0604020202020204" pitchFamily="34" charset="0"/>
              </a:rPr>
              <a:t> What will be the specific result of your goal? __________</a:t>
            </a:r>
          </a:p>
          <a:p>
            <a:pPr rtl="0" fontAlgn="base">
              <a:spcBef>
                <a:spcPts val="0"/>
              </a:spcBef>
              <a:spcAft>
                <a:spcPts val="0"/>
              </a:spcAft>
              <a:buFont typeface="Arial" panose="020B0604020202020204" pitchFamily="34" charset="0"/>
              <a:buChar char="•"/>
            </a:pPr>
            <a:r>
              <a:rPr lang="en-US" sz="1500" b="1" i="0" u="none" strike="noStrike" dirty="0">
                <a:solidFill>
                  <a:srgbClr val="000000"/>
                </a:solidFill>
                <a:effectLst/>
                <a:latin typeface="Arial" panose="020B0604020202020204" pitchFamily="34" charset="0"/>
              </a:rPr>
              <a:t>Measurable.</a:t>
            </a:r>
            <a:r>
              <a:rPr lang="en-US" sz="1500" b="0" i="0" u="none" strike="noStrike" dirty="0">
                <a:solidFill>
                  <a:srgbClr val="000000"/>
                </a:solidFill>
                <a:effectLst/>
                <a:latin typeface="Arial" panose="020B0604020202020204" pitchFamily="34" charset="0"/>
              </a:rPr>
              <a:t> How will you measure your progress?__________</a:t>
            </a:r>
          </a:p>
          <a:p>
            <a:pPr rtl="0" fontAlgn="base">
              <a:spcBef>
                <a:spcPts val="0"/>
              </a:spcBef>
              <a:spcAft>
                <a:spcPts val="0"/>
              </a:spcAft>
              <a:buFont typeface="Arial" panose="020B0604020202020204" pitchFamily="34" charset="0"/>
              <a:buChar char="•"/>
            </a:pPr>
            <a:r>
              <a:rPr lang="en-US" sz="1500" b="1" i="0" u="none" strike="noStrike" dirty="0">
                <a:solidFill>
                  <a:srgbClr val="000000"/>
                </a:solidFill>
                <a:effectLst/>
                <a:latin typeface="Arial" panose="020B0604020202020204" pitchFamily="34" charset="0"/>
              </a:rPr>
              <a:t>Actionable.</a:t>
            </a:r>
            <a:r>
              <a:rPr lang="en-US" sz="1500" b="0" i="0" u="none" strike="noStrike" dirty="0">
                <a:solidFill>
                  <a:srgbClr val="000000"/>
                </a:solidFill>
                <a:effectLst/>
                <a:latin typeface="Arial" panose="020B0604020202020204" pitchFamily="34" charset="0"/>
              </a:rPr>
              <a:t> Will you be able to achieve this goal? __________</a:t>
            </a:r>
          </a:p>
          <a:p>
            <a:pPr rtl="0" fontAlgn="base">
              <a:spcBef>
                <a:spcPts val="0"/>
              </a:spcBef>
              <a:spcAft>
                <a:spcPts val="0"/>
              </a:spcAft>
              <a:buFont typeface="Arial" panose="020B0604020202020204" pitchFamily="34" charset="0"/>
              <a:buChar char="•"/>
            </a:pPr>
            <a:r>
              <a:rPr lang="en-US" sz="1500" b="1" i="0" u="none" strike="noStrike" dirty="0">
                <a:solidFill>
                  <a:srgbClr val="000000"/>
                </a:solidFill>
                <a:effectLst/>
                <a:latin typeface="Arial" panose="020B0604020202020204" pitchFamily="34" charset="0"/>
              </a:rPr>
              <a:t>Relevant.</a:t>
            </a:r>
            <a:r>
              <a:rPr lang="en-US" sz="1500" b="0" i="0" u="none" strike="noStrike" dirty="0">
                <a:solidFill>
                  <a:srgbClr val="000000"/>
                </a:solidFill>
                <a:effectLst/>
                <a:latin typeface="Arial" panose="020B0604020202020204" pitchFamily="34" charset="0"/>
              </a:rPr>
              <a:t> How does this goal support a mid-level or top-level goal? __________</a:t>
            </a:r>
          </a:p>
          <a:p>
            <a:r>
              <a:rPr lang="en-US" sz="1500" b="1" i="0" u="none" strike="noStrike" dirty="0">
                <a:solidFill>
                  <a:srgbClr val="000000"/>
                </a:solidFill>
                <a:effectLst/>
                <a:latin typeface="Arial" panose="020B0604020202020204" pitchFamily="34" charset="0"/>
              </a:rPr>
              <a:t>Time Bound. </a:t>
            </a:r>
            <a:r>
              <a:rPr lang="en-US" sz="1500" b="0" i="0" u="none" strike="noStrike" dirty="0">
                <a:solidFill>
                  <a:srgbClr val="000000"/>
                </a:solidFill>
                <a:effectLst/>
                <a:latin typeface="Arial" panose="020B0604020202020204" pitchFamily="34" charset="0"/>
              </a:rPr>
              <a:t>What is the specific date when you will accomplish this goal? __________</a:t>
            </a:r>
            <a:endParaRPr lang="en-MX" sz="1500" dirty="0"/>
          </a:p>
        </p:txBody>
      </p:sp>
    </p:spTree>
    <p:extLst>
      <p:ext uri="{BB962C8B-B14F-4D97-AF65-F5344CB8AC3E}">
        <p14:creationId xmlns:p14="http://schemas.microsoft.com/office/powerpoint/2010/main" val="3919977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BC0ABCE-788D-A574-D831-23AF9C524ADC}"/>
              </a:ext>
            </a:extLst>
          </p:cNvPr>
          <p:cNvGrpSpPr/>
          <p:nvPr/>
        </p:nvGrpSpPr>
        <p:grpSpPr>
          <a:xfrm>
            <a:off x="-24306" y="0"/>
            <a:ext cx="12216306" cy="6964636"/>
            <a:chOff x="-24306" y="0"/>
            <a:chExt cx="12216306" cy="6964636"/>
          </a:xfrm>
        </p:grpSpPr>
        <p:pic>
          <p:nvPicPr>
            <p:cNvPr id="10" name="Picture 9">
              <a:extLst>
                <a:ext uri="{FF2B5EF4-FFF2-40B4-BE49-F238E27FC236}">
                  <a16:creationId xmlns:a16="http://schemas.microsoft.com/office/drawing/2014/main" id="{973155AC-5644-19F7-3124-06BBD0E2FBA8}"/>
                </a:ext>
              </a:extLst>
            </p:cNvPr>
            <p:cNvPicPr>
              <a:picLocks noChangeAspect="1"/>
            </p:cNvPicPr>
            <p:nvPr/>
          </p:nvPicPr>
          <p:blipFill>
            <a:blip r:embed="rId3"/>
            <a:stretch>
              <a:fillRect/>
            </a:stretch>
          </p:blipFill>
          <p:spPr>
            <a:xfrm>
              <a:off x="-24306" y="6367736"/>
              <a:ext cx="12216306" cy="596900"/>
            </a:xfrm>
            <a:prstGeom prst="rect">
              <a:avLst/>
            </a:prstGeom>
          </p:spPr>
        </p:pic>
        <p:grpSp>
          <p:nvGrpSpPr>
            <p:cNvPr id="11" name="Group 10">
              <a:extLst>
                <a:ext uri="{FF2B5EF4-FFF2-40B4-BE49-F238E27FC236}">
                  <a16:creationId xmlns:a16="http://schemas.microsoft.com/office/drawing/2014/main" id="{EE2FBC8F-DB7D-9A8C-95D9-EA21C7EB86FB}"/>
                </a:ext>
              </a:extLst>
            </p:cNvPr>
            <p:cNvGrpSpPr/>
            <p:nvPr/>
          </p:nvGrpSpPr>
          <p:grpSpPr>
            <a:xfrm>
              <a:off x="0" y="0"/>
              <a:ext cx="12192000" cy="1651577"/>
              <a:chOff x="0" y="0"/>
              <a:chExt cx="12192000" cy="1651577"/>
            </a:xfrm>
          </p:grpSpPr>
          <p:sp>
            <p:nvSpPr>
              <p:cNvPr id="12" name="Rectangle 11">
                <a:extLst>
                  <a:ext uri="{FF2B5EF4-FFF2-40B4-BE49-F238E27FC236}">
                    <a16:creationId xmlns:a16="http://schemas.microsoft.com/office/drawing/2014/main" id="{BCD19AF2-0CF7-4716-3543-2CB1ABAE9C92}"/>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13" name="Picture 12">
                <a:extLst>
                  <a:ext uri="{FF2B5EF4-FFF2-40B4-BE49-F238E27FC236}">
                    <a16:creationId xmlns:a16="http://schemas.microsoft.com/office/drawing/2014/main" id="{DE19F30A-C277-153E-9C95-38A1926F483D}"/>
                  </a:ext>
                </a:extLst>
              </p:cNvPr>
              <p:cNvPicPr>
                <a:picLocks noChangeAspect="1"/>
              </p:cNvPicPr>
              <p:nvPr/>
            </p:nvPicPr>
            <p:blipFill>
              <a:blip r:embed="rId4"/>
              <a:stretch>
                <a:fillRect/>
              </a:stretch>
            </p:blipFill>
            <p:spPr>
              <a:xfrm>
                <a:off x="436398" y="0"/>
                <a:ext cx="2117616" cy="1651577"/>
              </a:xfrm>
              <a:prstGeom prst="rect">
                <a:avLst/>
              </a:prstGeom>
            </p:spPr>
          </p:pic>
        </p:grpSp>
      </p:grpSp>
      <p:sp>
        <p:nvSpPr>
          <p:cNvPr id="24" name="Rectangle 23">
            <a:extLst>
              <a:ext uri="{FF2B5EF4-FFF2-40B4-BE49-F238E27FC236}">
                <a16:creationId xmlns:a16="http://schemas.microsoft.com/office/drawing/2014/main" id="{C15EF650-EA45-EF28-93FD-12F90FB0D84A}"/>
              </a:ext>
            </a:extLst>
          </p:cNvPr>
          <p:cNvSpPr/>
          <p:nvPr/>
        </p:nvSpPr>
        <p:spPr>
          <a:xfrm>
            <a:off x="601826" y="2079904"/>
            <a:ext cx="10988347" cy="45719"/>
          </a:xfrm>
          <a:prstGeom prst="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
        <p:nvSpPr>
          <p:cNvPr id="4" name="TextBox 3">
            <a:extLst>
              <a:ext uri="{FF2B5EF4-FFF2-40B4-BE49-F238E27FC236}">
                <a16:creationId xmlns:a16="http://schemas.microsoft.com/office/drawing/2014/main" id="{B0EA1CD7-BED2-1FE4-0576-AB73A3EF6C0B}"/>
              </a:ext>
            </a:extLst>
          </p:cNvPr>
          <p:cNvSpPr txBox="1"/>
          <p:nvPr/>
        </p:nvSpPr>
        <p:spPr>
          <a:xfrm>
            <a:off x="2927129" y="1174070"/>
            <a:ext cx="6174925" cy="769441"/>
          </a:xfrm>
          <a:prstGeom prst="rect">
            <a:avLst/>
          </a:prstGeom>
          <a:noFill/>
        </p:spPr>
        <p:txBody>
          <a:bodyPr wrap="square">
            <a:spAutoFit/>
          </a:bodyPr>
          <a:lstStyle/>
          <a:p>
            <a:r>
              <a:rPr lang="en-US" sz="4400" b="1" dirty="0">
                <a:latin typeface="+mj-lt"/>
                <a:ea typeface="+mj-ea"/>
                <a:cs typeface="+mj-cs"/>
              </a:rPr>
              <a:t>Group Presentation</a:t>
            </a:r>
            <a:endParaRPr lang="en-MX" sz="4400" b="1" dirty="0">
              <a:latin typeface="+mj-lt"/>
              <a:ea typeface="+mj-ea"/>
              <a:cs typeface="+mj-cs"/>
            </a:endParaRPr>
          </a:p>
        </p:txBody>
      </p:sp>
      <p:sp>
        <p:nvSpPr>
          <p:cNvPr id="2" name="TextBox 1">
            <a:extLst>
              <a:ext uri="{FF2B5EF4-FFF2-40B4-BE49-F238E27FC236}">
                <a16:creationId xmlns:a16="http://schemas.microsoft.com/office/drawing/2014/main" id="{7EB62DDC-4005-CB6F-708A-A71D76B2A051}"/>
              </a:ext>
            </a:extLst>
          </p:cNvPr>
          <p:cNvSpPr txBox="1"/>
          <p:nvPr/>
        </p:nvSpPr>
        <p:spPr>
          <a:xfrm>
            <a:off x="582251" y="2615136"/>
            <a:ext cx="10315685" cy="477054"/>
          </a:xfrm>
          <a:prstGeom prst="rect">
            <a:avLst/>
          </a:prstGeom>
          <a:noFill/>
        </p:spPr>
        <p:txBody>
          <a:bodyPr wrap="square">
            <a:spAutoFit/>
          </a:bodyPr>
          <a:lstStyle/>
          <a:p>
            <a:r>
              <a:rPr lang="en-MX" sz="2500" kern="0" dirty="0">
                <a:solidFill>
                  <a:srgbClr val="000000"/>
                </a:solidFill>
                <a:effectLst/>
                <a:latin typeface="Arial" panose="020B0604020202020204" pitchFamily="34" charset="0"/>
                <a:ea typeface="Times New Roman" panose="02020603050405020304" pitchFamily="18" charset="0"/>
              </a:rPr>
              <a:t>- </a:t>
            </a:r>
            <a:r>
              <a:rPr lang="en-MX" sz="2500" kern="0" dirty="0">
                <a:solidFill>
                  <a:srgbClr val="000000"/>
                </a:solidFill>
                <a:latin typeface="Arial" panose="020B0604020202020204" pitchFamily="34" charset="0"/>
                <a:ea typeface="Times New Roman" panose="02020603050405020304" pitchFamily="18" charset="0"/>
              </a:rPr>
              <a:t>E</a:t>
            </a:r>
            <a:r>
              <a:rPr lang="en-MX" sz="2500" kern="0" dirty="0">
                <a:solidFill>
                  <a:srgbClr val="000000"/>
                </a:solidFill>
                <a:effectLst/>
                <a:latin typeface="Arial" panose="020B0604020202020204" pitchFamily="34" charset="0"/>
                <a:ea typeface="Times New Roman" panose="02020603050405020304" pitchFamily="18" charset="0"/>
              </a:rPr>
              <a:t>ach group will presente on their scenario solutions for Stan</a:t>
            </a:r>
            <a:r>
              <a:rPr lang="en-MX" sz="2500" dirty="0">
                <a:effectLst/>
              </a:rPr>
              <a:t> </a:t>
            </a:r>
            <a:endParaRPr lang="en-MX" sz="2500" dirty="0">
              <a:solidFill>
                <a:srgbClr val="636466"/>
              </a:solidFill>
              <a:highlight>
                <a:srgbClr val="FFFFFF"/>
              </a:highlight>
              <a:latin typeface="Open Sans" panose="020B0606030504020204" pitchFamily="34" charset="0"/>
            </a:endParaRPr>
          </a:p>
        </p:txBody>
      </p:sp>
      <p:sp>
        <p:nvSpPr>
          <p:cNvPr id="7" name="TextBox 6">
            <a:extLst>
              <a:ext uri="{FF2B5EF4-FFF2-40B4-BE49-F238E27FC236}">
                <a16:creationId xmlns:a16="http://schemas.microsoft.com/office/drawing/2014/main" id="{59161280-9085-5967-A824-7725E0874E9B}"/>
              </a:ext>
            </a:extLst>
          </p:cNvPr>
          <p:cNvSpPr txBox="1"/>
          <p:nvPr/>
        </p:nvSpPr>
        <p:spPr>
          <a:xfrm>
            <a:off x="601826" y="3294075"/>
            <a:ext cx="9420668" cy="477054"/>
          </a:xfrm>
          <a:prstGeom prst="rect">
            <a:avLst/>
          </a:prstGeom>
          <a:noFill/>
        </p:spPr>
        <p:txBody>
          <a:bodyPr wrap="square">
            <a:spAutoFit/>
          </a:bodyPr>
          <a:lstStyle/>
          <a:p>
            <a:r>
              <a:rPr lang="en-MX" sz="2500" kern="0" dirty="0">
                <a:solidFill>
                  <a:srgbClr val="000000"/>
                </a:solidFill>
                <a:effectLst/>
                <a:latin typeface="Arial" panose="020B0604020202020204" pitchFamily="34" charset="0"/>
                <a:ea typeface="Times New Roman" panose="02020603050405020304" pitchFamily="18" charset="0"/>
              </a:rPr>
              <a:t>- </a:t>
            </a:r>
            <a:r>
              <a:rPr lang="en-MX" sz="2500" kern="0" dirty="0">
                <a:solidFill>
                  <a:srgbClr val="000000"/>
                </a:solidFill>
                <a:latin typeface="Arial" panose="020B0604020202020204" pitchFamily="34" charset="0"/>
                <a:ea typeface="Times New Roman" panose="02020603050405020304" pitchFamily="18" charset="0"/>
              </a:rPr>
              <a:t>E</a:t>
            </a:r>
            <a:r>
              <a:rPr lang="en-MX" sz="2500" kern="0" dirty="0">
                <a:solidFill>
                  <a:srgbClr val="000000"/>
                </a:solidFill>
                <a:effectLst/>
                <a:latin typeface="Arial" panose="020B0604020202020204" pitchFamily="34" charset="0"/>
                <a:ea typeface="Times New Roman" panose="02020603050405020304" pitchFamily="18" charset="0"/>
              </a:rPr>
              <a:t>xplaining why they feel these goals are the best option for him</a:t>
            </a:r>
            <a:r>
              <a:rPr lang="en-MX" sz="2500" dirty="0">
                <a:effectLst/>
              </a:rPr>
              <a:t> </a:t>
            </a:r>
            <a:endParaRPr lang="en-MX" sz="2500" dirty="0"/>
          </a:p>
        </p:txBody>
      </p:sp>
      <p:sp>
        <p:nvSpPr>
          <p:cNvPr id="14" name="TextBox 13">
            <a:extLst>
              <a:ext uri="{FF2B5EF4-FFF2-40B4-BE49-F238E27FC236}">
                <a16:creationId xmlns:a16="http://schemas.microsoft.com/office/drawing/2014/main" id="{029F91C6-FC2D-448B-123A-305B3E86BF37}"/>
              </a:ext>
            </a:extLst>
          </p:cNvPr>
          <p:cNvSpPr txBox="1"/>
          <p:nvPr/>
        </p:nvSpPr>
        <p:spPr>
          <a:xfrm>
            <a:off x="601826" y="3941626"/>
            <a:ext cx="11173967" cy="861774"/>
          </a:xfrm>
          <a:prstGeom prst="rect">
            <a:avLst/>
          </a:prstGeom>
          <a:noFill/>
        </p:spPr>
        <p:txBody>
          <a:bodyPr wrap="square">
            <a:spAutoFit/>
          </a:bodyPr>
          <a:lstStyle/>
          <a:p>
            <a:r>
              <a:rPr lang="en-MX" sz="2500" kern="0" dirty="0">
                <a:solidFill>
                  <a:srgbClr val="000000"/>
                </a:solidFill>
                <a:effectLst/>
                <a:latin typeface="Arial" panose="020B0604020202020204" pitchFamily="34" charset="0"/>
                <a:ea typeface="Times New Roman" panose="02020603050405020304" pitchFamily="18" charset="0"/>
              </a:rPr>
              <a:t>- </a:t>
            </a:r>
            <a:r>
              <a:rPr lang="en-MX" sz="2500" kern="0" dirty="0">
                <a:solidFill>
                  <a:srgbClr val="000000"/>
                </a:solidFill>
                <a:latin typeface="Arial" panose="020B0604020202020204" pitchFamily="34" charset="0"/>
                <a:ea typeface="Times New Roman" panose="02020603050405020304" pitchFamily="18" charset="0"/>
              </a:rPr>
              <a:t>H</a:t>
            </a:r>
            <a:r>
              <a:rPr lang="en-MX" sz="2500" kern="0" dirty="0">
                <a:solidFill>
                  <a:srgbClr val="000000"/>
                </a:solidFill>
                <a:effectLst/>
                <a:latin typeface="Arial" panose="020B0604020202020204" pitchFamily="34" charset="0"/>
                <a:ea typeface="Times New Roman" panose="02020603050405020304" pitchFamily="18" charset="0"/>
              </a:rPr>
              <a:t>ow do you applied the principles of effective goal setting to one of his lower-level goals.</a:t>
            </a:r>
            <a:r>
              <a:rPr lang="en-MX" sz="2500" dirty="0">
                <a:effectLst/>
              </a:rPr>
              <a:t> </a:t>
            </a:r>
            <a:endParaRPr lang="en-MX" sz="2500" dirty="0"/>
          </a:p>
        </p:txBody>
      </p:sp>
    </p:spTree>
    <p:extLst>
      <p:ext uri="{BB962C8B-B14F-4D97-AF65-F5344CB8AC3E}">
        <p14:creationId xmlns:p14="http://schemas.microsoft.com/office/powerpoint/2010/main" val="261913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F41FBA0-4EE5-D6E6-DB0E-92E526481A56}"/>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8" name="Picture 7">
            <a:extLst>
              <a:ext uri="{FF2B5EF4-FFF2-40B4-BE49-F238E27FC236}">
                <a16:creationId xmlns:a16="http://schemas.microsoft.com/office/drawing/2014/main" id="{30BBAD82-ED2E-1DAD-7940-9DFDA54709B5}"/>
              </a:ext>
            </a:extLst>
          </p:cNvPr>
          <p:cNvPicPr>
            <a:picLocks noChangeAspect="1"/>
          </p:cNvPicPr>
          <p:nvPr/>
        </p:nvPicPr>
        <p:blipFill>
          <a:blip r:embed="rId2"/>
          <a:stretch>
            <a:fillRect/>
          </a:stretch>
        </p:blipFill>
        <p:spPr>
          <a:xfrm>
            <a:off x="-24306" y="6367736"/>
            <a:ext cx="12216306" cy="596900"/>
          </a:xfrm>
          <a:prstGeom prst="rect">
            <a:avLst/>
          </a:prstGeom>
        </p:spPr>
      </p:pic>
      <p:pic>
        <p:nvPicPr>
          <p:cNvPr id="9" name="Picture 8">
            <a:extLst>
              <a:ext uri="{FF2B5EF4-FFF2-40B4-BE49-F238E27FC236}">
                <a16:creationId xmlns:a16="http://schemas.microsoft.com/office/drawing/2014/main" id="{93CCCCAC-80DF-2B8B-EA34-F88001007D0D}"/>
              </a:ext>
            </a:extLst>
          </p:cNvPr>
          <p:cNvPicPr>
            <a:picLocks noChangeAspect="1"/>
          </p:cNvPicPr>
          <p:nvPr/>
        </p:nvPicPr>
        <p:blipFill>
          <a:blip r:embed="rId3"/>
          <a:stretch>
            <a:fillRect/>
          </a:stretch>
        </p:blipFill>
        <p:spPr>
          <a:xfrm>
            <a:off x="436398" y="0"/>
            <a:ext cx="2790122" cy="2176080"/>
          </a:xfrm>
          <a:prstGeom prst="rect">
            <a:avLst/>
          </a:prstGeom>
        </p:spPr>
      </p:pic>
      <p:sp>
        <p:nvSpPr>
          <p:cNvPr id="12" name="Content Placeholder 2">
            <a:extLst>
              <a:ext uri="{FF2B5EF4-FFF2-40B4-BE49-F238E27FC236}">
                <a16:creationId xmlns:a16="http://schemas.microsoft.com/office/drawing/2014/main" id="{90852E6C-BC27-9260-4E06-164B2370B8AB}"/>
              </a:ext>
            </a:extLst>
          </p:cNvPr>
          <p:cNvSpPr txBox="1">
            <a:spLocks/>
          </p:cNvSpPr>
          <p:nvPr/>
        </p:nvSpPr>
        <p:spPr>
          <a:xfrm>
            <a:off x="2836420" y="2798780"/>
            <a:ext cx="6232079" cy="90649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MX" sz="4400" b="1" dirty="0"/>
              <a:t>Testimony and Prayer</a:t>
            </a:r>
          </a:p>
        </p:txBody>
      </p:sp>
      <p:sp>
        <p:nvSpPr>
          <p:cNvPr id="4" name="TextBox 3">
            <a:extLst>
              <a:ext uri="{FF2B5EF4-FFF2-40B4-BE49-F238E27FC236}">
                <a16:creationId xmlns:a16="http://schemas.microsoft.com/office/drawing/2014/main" id="{E7E61F28-1606-43BA-52EF-A7165649B25B}"/>
              </a:ext>
            </a:extLst>
          </p:cNvPr>
          <p:cNvSpPr txBox="1"/>
          <p:nvPr/>
        </p:nvSpPr>
        <p:spPr>
          <a:xfrm>
            <a:off x="2316759" y="3910049"/>
            <a:ext cx="7558481" cy="707886"/>
          </a:xfrm>
          <a:prstGeom prst="rect">
            <a:avLst/>
          </a:prstGeom>
          <a:noFill/>
        </p:spPr>
        <p:txBody>
          <a:bodyPr wrap="square">
            <a:spAutoFit/>
          </a:bodyPr>
          <a:lstStyle/>
          <a:p>
            <a:r>
              <a:rPr lang="en-MX" sz="4000" dirty="0"/>
              <a:t> - Closing prayer: Iyari Lozano</a:t>
            </a:r>
          </a:p>
        </p:txBody>
      </p:sp>
    </p:spTree>
    <p:extLst>
      <p:ext uri="{BB962C8B-B14F-4D97-AF65-F5344CB8AC3E}">
        <p14:creationId xmlns:p14="http://schemas.microsoft.com/office/powerpoint/2010/main" val="571288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B9D28-C34F-B4F9-BB5D-AEE222550FAC}"/>
              </a:ext>
            </a:extLst>
          </p:cNvPr>
          <p:cNvSpPr>
            <a:spLocks noGrp="1"/>
          </p:cNvSpPr>
          <p:nvPr>
            <p:ph type="ctrTitle"/>
          </p:nvPr>
        </p:nvSpPr>
        <p:spPr>
          <a:xfrm>
            <a:off x="1137462" y="2583293"/>
            <a:ext cx="9144000" cy="1075682"/>
          </a:xfrm>
        </p:spPr>
        <p:txBody>
          <a:bodyPr>
            <a:noAutofit/>
          </a:bodyPr>
          <a:lstStyle/>
          <a:p>
            <a:r>
              <a:rPr lang="en-US" sz="4000" b="1" dirty="0"/>
              <a:t>W</a:t>
            </a:r>
            <a:r>
              <a:rPr lang="en-MX" sz="4000" b="1" dirty="0"/>
              <a:t>03 Gathering</a:t>
            </a:r>
            <a:br>
              <a:rPr lang="en-MX" sz="4000" b="1" dirty="0"/>
            </a:br>
            <a:r>
              <a:rPr lang="en-MX" sz="4000" kern="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Time Management and Goals</a:t>
            </a:r>
            <a:endParaRPr lang="en-MX" sz="4000" b="1" dirty="0"/>
          </a:p>
        </p:txBody>
      </p:sp>
      <p:sp>
        <p:nvSpPr>
          <p:cNvPr id="3" name="Subtitle 2">
            <a:extLst>
              <a:ext uri="{FF2B5EF4-FFF2-40B4-BE49-F238E27FC236}">
                <a16:creationId xmlns:a16="http://schemas.microsoft.com/office/drawing/2014/main" id="{F94E967C-0CB9-6389-9D20-04BEF617443F}"/>
              </a:ext>
            </a:extLst>
          </p:cNvPr>
          <p:cNvSpPr>
            <a:spLocks noGrp="1"/>
          </p:cNvSpPr>
          <p:nvPr>
            <p:ph type="subTitle" idx="1"/>
          </p:nvPr>
        </p:nvSpPr>
        <p:spPr>
          <a:xfrm>
            <a:off x="1229742" y="4066188"/>
            <a:ext cx="9144000" cy="720150"/>
          </a:xfrm>
        </p:spPr>
        <p:txBody>
          <a:bodyPr>
            <a:normAutofit/>
          </a:bodyPr>
          <a:lstStyle/>
          <a:p>
            <a:r>
              <a:rPr lang="en-MX" sz="4400" dirty="0"/>
              <a:t>Thank you!!</a:t>
            </a:r>
          </a:p>
        </p:txBody>
      </p:sp>
      <p:sp>
        <p:nvSpPr>
          <p:cNvPr id="6" name="Rectangle 5">
            <a:extLst>
              <a:ext uri="{FF2B5EF4-FFF2-40B4-BE49-F238E27FC236}">
                <a16:creationId xmlns:a16="http://schemas.microsoft.com/office/drawing/2014/main" id="{5F41FBA0-4EE5-D6E6-DB0E-92E526481A56}"/>
              </a:ext>
            </a:extLst>
          </p:cNvPr>
          <p:cNvSpPr/>
          <p:nvPr/>
        </p:nvSpPr>
        <p:spPr>
          <a:xfrm>
            <a:off x="0" y="0"/>
            <a:ext cx="12192000" cy="1064811"/>
          </a:xfrm>
          <a:prstGeom prst="rect">
            <a:avLst/>
          </a:prstGeom>
          <a:solidFill>
            <a:schemeClr val="bg1">
              <a:lumMod val="8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pic>
        <p:nvPicPr>
          <p:cNvPr id="8" name="Picture 7">
            <a:extLst>
              <a:ext uri="{FF2B5EF4-FFF2-40B4-BE49-F238E27FC236}">
                <a16:creationId xmlns:a16="http://schemas.microsoft.com/office/drawing/2014/main" id="{30BBAD82-ED2E-1DAD-7940-9DFDA54709B5}"/>
              </a:ext>
            </a:extLst>
          </p:cNvPr>
          <p:cNvPicPr>
            <a:picLocks noChangeAspect="1"/>
          </p:cNvPicPr>
          <p:nvPr/>
        </p:nvPicPr>
        <p:blipFill>
          <a:blip r:embed="rId2"/>
          <a:stretch>
            <a:fillRect/>
          </a:stretch>
        </p:blipFill>
        <p:spPr>
          <a:xfrm>
            <a:off x="-24306" y="6367736"/>
            <a:ext cx="12216306" cy="596900"/>
          </a:xfrm>
          <a:prstGeom prst="rect">
            <a:avLst/>
          </a:prstGeom>
        </p:spPr>
      </p:pic>
      <p:pic>
        <p:nvPicPr>
          <p:cNvPr id="9" name="Picture 8">
            <a:extLst>
              <a:ext uri="{FF2B5EF4-FFF2-40B4-BE49-F238E27FC236}">
                <a16:creationId xmlns:a16="http://schemas.microsoft.com/office/drawing/2014/main" id="{93CCCCAC-80DF-2B8B-EA34-F88001007D0D}"/>
              </a:ext>
            </a:extLst>
          </p:cNvPr>
          <p:cNvPicPr>
            <a:picLocks noChangeAspect="1"/>
          </p:cNvPicPr>
          <p:nvPr/>
        </p:nvPicPr>
        <p:blipFill>
          <a:blip r:embed="rId3"/>
          <a:stretch>
            <a:fillRect/>
          </a:stretch>
        </p:blipFill>
        <p:spPr>
          <a:xfrm>
            <a:off x="436398" y="0"/>
            <a:ext cx="2790122" cy="2176080"/>
          </a:xfrm>
          <a:prstGeom prst="rect">
            <a:avLst/>
          </a:prstGeom>
        </p:spPr>
      </p:pic>
    </p:spTree>
    <p:extLst>
      <p:ext uri="{BB962C8B-B14F-4D97-AF65-F5344CB8AC3E}">
        <p14:creationId xmlns:p14="http://schemas.microsoft.com/office/powerpoint/2010/main" val="31999678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851</TotalTime>
  <Words>1591</Words>
  <Application>Microsoft Macintosh PowerPoint</Application>
  <PresentationFormat>Widescreen</PresentationFormat>
  <Paragraphs>174</Paragraphs>
  <Slides>20</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Lato Extended</vt:lpstr>
      <vt:lpstr>Open Sans</vt:lpstr>
      <vt:lpstr>Office Theme</vt:lpstr>
      <vt:lpstr>W03 Gathering Time Management and Goals</vt:lpstr>
      <vt:lpstr>PowerPoint Presentation</vt:lpstr>
      <vt:lpstr>W03 Devotional</vt:lpstr>
      <vt:lpstr>W03 Devotional</vt:lpstr>
      <vt:lpstr>W03 Devotional</vt:lpstr>
      <vt:lpstr>W03 Application Activity:  Introduction to Spreadsheets </vt:lpstr>
      <vt:lpstr>Goals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W03 Gathering Time Management and 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W03 Gathering</dc:title>
  <dc:creator>julio celon</dc:creator>
  <cp:lastModifiedBy>julio celon</cp:lastModifiedBy>
  <cp:revision>6</cp:revision>
  <dcterms:created xsi:type="dcterms:W3CDTF">2024-05-06T20:44:38Z</dcterms:created>
  <dcterms:modified xsi:type="dcterms:W3CDTF">2024-05-10T05:04:43Z</dcterms:modified>
</cp:coreProperties>
</file>